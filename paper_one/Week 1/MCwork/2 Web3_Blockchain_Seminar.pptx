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covering Web3 and Blockchain in 10 minutes. By the end you'll understand what Web3 is, how blockchain actually works, where it's being applied, and what it means for your career and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Web1 was read-only — think early Yahoo and Netscape. Web2 is where we are now — interactive, social, cloud-based, but platforms own everything. Web3 is the next shift: users own their data and assets. No single company controls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blockchain is a chain of data blocks, each cryptographically linked to the previous one. To change any record, you'd have to redo all subsequent blocks across thousands of computers simultaneously — computationally impossible. That's why it's called trustless — the math is the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just experiments — these are live deployments. Walmart uses blockchain to trace food from farm to shelf in seconds instead of days. JP Morgan has settled over $1 trillion in transactions on their private blockchain. The question isn't IF blockchain will affect your industry — it's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contracts are self-executing programs stored on the blockchain. They eliminate the need for intermediaries like lawyers, banks, and brokers for routine transactions. Ethereum processes millions of smart contracts daily. This is why Web3 is often called 'programmable money and programmable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be balanced here. Blockchain is not a silver bullet. Scalability has been the biggest hurdle, but Layer 2 networks have essentially solved this. The technology is maturing fast — 2024 and 2025 have seen more institutional adoption than any prior years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become a blockchain developer. But in the same way professionals needed to understand the internet in 1999, understanding Web3 today is becoming table stakes in many industries. Start small — set up a wallet this week. It takes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in 30 seconds: Web3 is the next internet paradigm built on blockchain — decentralized, transparent, and user-owned. Blockchain is the trust infrastructure. Smart contracts are the automation engine. This is not hype — it's already running at scale. Your job is to understand it well enough to make informed decisions when it affects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wraps up our 10 minutes! I'm happy to go deeper on any topic — DeFi, NFTs, enterprise blockchain, or specific industries. The best way to learn is to get hands-on. I'd encourage everyone here to set up a MetaMask wallet this week — it's free and takes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00B4D8">
              <a:alpha val="18000"/>
            </a:srgbClr>
          </a:solidFill>
          <a:ln w="12700">
            <a:solidFill>
              <a:srgbClr val="00B4D8">
                <a:alpha val="18000"/>
              </a:srgbClr>
            </a:solidFill>
            <a:prstDash val="solid"/>
          </a:ln>
        </p:spPr>
      </p:sp>
      <p:sp>
        <p:nvSpPr>
          <p:cNvPr id="3" name="Shape 1"/>
          <p:cNvSpPr/>
          <p:nvPr/>
        </p:nvSpPr>
        <p:spPr>
          <a:xfrm>
            <a:off x="-1371600" y="3200400"/>
            <a:ext cx="3657600" cy="3657600"/>
          </a:xfrm>
          <a:prstGeom prst="ellipse">
            <a:avLst/>
          </a:prstGeom>
          <a:solidFill>
            <a:srgbClr val="0077B6">
              <a:alpha val="15000"/>
            </a:srgbClr>
          </a:solidFill>
          <a:ln w="12700">
            <a:solidFill>
              <a:srgbClr val="0077B6">
                <a:alpha val="15000"/>
              </a:srgbClr>
            </a:solidFill>
            <a:prstDash val="solid"/>
          </a:ln>
        </p:spPr>
      </p:sp>
      <p:sp>
        <p:nvSpPr>
          <p:cNvPr id="4" name="Text 2"/>
          <p:cNvSpPr/>
          <p:nvPr/>
        </p:nvSpPr>
        <p:spPr>
          <a:xfrm>
            <a:off x="548640" y="502920"/>
            <a:ext cx="8046720" cy="274320"/>
          </a:xfrm>
          <a:prstGeom prst="rect">
            <a:avLst/>
          </a:prstGeom>
          <a:noFill/>
          <a:ln/>
        </p:spPr>
        <p:txBody>
          <a:bodyPr wrap="square" lIns="0" tIns="0" rIns="0" bIns="0" rtlCol="0" anchor="ctr"/>
          <a:lstStyle/>
          <a:p>
            <a:pPr indent="0" marL="0">
              <a:buNone/>
            </a:pPr>
            <a:r>
              <a:rPr lang="en-US" sz="1000" b="1" spc="400" kern="0" dirty="0">
                <a:solidFill>
                  <a:srgbClr val="00B4D8"/>
                </a:solidFill>
              </a:rPr>
              <a:t>10-MINUTE TECH SEMINAR</a:t>
            </a:r>
            <a:endParaRPr lang="en-US" sz="1000" dirty="0"/>
          </a:p>
        </p:txBody>
      </p:sp>
      <p:sp>
        <p:nvSpPr>
          <p:cNvPr id="5" name="Text 3"/>
          <p:cNvSpPr/>
          <p:nvPr/>
        </p:nvSpPr>
        <p:spPr>
          <a:xfrm>
            <a:off x="548640" y="914400"/>
            <a:ext cx="82296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Web3 &amp; Blockchain</a:t>
            </a:r>
            <a:endParaRPr lang="en-US" sz="4800" dirty="0"/>
          </a:p>
        </p:txBody>
      </p:sp>
      <p:sp>
        <p:nvSpPr>
          <p:cNvPr id="6" name="Text 4"/>
          <p:cNvSpPr/>
          <p:nvPr/>
        </p:nvSpPr>
        <p:spPr>
          <a:xfrm>
            <a:off x="548640" y="2057400"/>
            <a:ext cx="7315200" cy="502920"/>
          </a:xfrm>
          <a:prstGeom prst="rect">
            <a:avLst/>
          </a:prstGeom>
          <a:noFill/>
          <a:ln/>
        </p:spPr>
        <p:txBody>
          <a:bodyPr wrap="square" lIns="0" tIns="0" rIns="0" bIns="0" rtlCol="0" anchor="ctr"/>
          <a:lstStyle/>
          <a:p>
            <a:pPr indent="0" marL="0">
              <a:buNone/>
            </a:pPr>
            <a:r>
              <a:rPr lang="en-US" sz="2200" i="1" dirty="0">
                <a:solidFill>
                  <a:srgbClr val="E0F4FF"/>
                </a:solidFill>
                <a:latin typeface="Calibri" pitchFamily="34" charset="0"/>
                <a:ea typeface="Calibri" pitchFamily="34" charset="-122"/>
                <a:cs typeface="Calibri" pitchFamily="34" charset="-120"/>
              </a:rPr>
              <a:t>The Next Evolution of the Internet</a:t>
            </a:r>
            <a:endParaRPr lang="en-US" sz="2200" dirty="0"/>
          </a:p>
        </p:txBody>
      </p:sp>
      <p:sp>
        <p:nvSpPr>
          <p:cNvPr id="7" name="Shape 5"/>
          <p:cNvSpPr/>
          <p:nvPr/>
        </p:nvSpPr>
        <p:spPr>
          <a:xfrm>
            <a:off x="548640" y="2743200"/>
            <a:ext cx="3200400" cy="36576"/>
          </a:xfrm>
          <a:prstGeom prst="rect">
            <a:avLst/>
          </a:prstGeom>
          <a:solidFill>
            <a:srgbClr val="00B4D8"/>
          </a:solidFill>
          <a:ln w="12700">
            <a:solidFill>
              <a:srgbClr val="00B4D8"/>
            </a:solidFill>
            <a:prstDash val="solid"/>
          </a:ln>
        </p:spPr>
      </p:sp>
      <p:sp>
        <p:nvSpPr>
          <p:cNvPr id="8" name="Text 6"/>
          <p:cNvSpPr/>
          <p:nvPr/>
        </p:nvSpPr>
        <p:spPr>
          <a:xfrm>
            <a:off x="548640" y="2971800"/>
            <a:ext cx="7315200" cy="32004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For Working Professionals  |  June 2026</a:t>
            </a:r>
            <a:endParaRPr lang="en-US" sz="1300" dirty="0"/>
          </a:p>
        </p:txBody>
      </p:sp>
      <p:sp>
        <p:nvSpPr>
          <p:cNvPr id="9" name="Text 7"/>
          <p:cNvSpPr/>
          <p:nvPr/>
        </p:nvSpPr>
        <p:spPr>
          <a:xfrm>
            <a:off x="548640" y="4023360"/>
            <a:ext cx="8229600" cy="5029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What we'll cover: </a:t>
            </a:r>
            <a:pPr indent="0" marL="0">
              <a:buNone/>
            </a:pPr>
            <a:r>
              <a:rPr lang="en-US" sz="1200" dirty="0">
                <a:solidFill>
                  <a:srgbClr val="E8F4FD"/>
                </a:solidFill>
                <a:latin typeface="Calibri" pitchFamily="34" charset="0"/>
                <a:ea typeface="Calibri" pitchFamily="34" charset="-122"/>
                <a:cs typeface="Calibri" pitchFamily="34" charset="-120"/>
              </a:rPr>
              <a:t>What is Web3? · How Blockchain Works · Real Use Cases · What This Means for You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91440"/>
            <a:ext cx="822960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Is Web3?</a:t>
            </a:r>
            <a:endParaRPr lang="en-US" sz="2800" dirty="0"/>
          </a:p>
        </p:txBody>
      </p:sp>
      <p:sp>
        <p:nvSpPr>
          <p:cNvPr id="4" name="Shape 2"/>
          <p:cNvSpPr/>
          <p:nvPr/>
        </p:nvSpPr>
        <p:spPr>
          <a:xfrm>
            <a:off x="274320" y="1097280"/>
            <a:ext cx="2743200" cy="3474720"/>
          </a:xfrm>
          <a:prstGeom prst="roundRect">
            <a:avLst>
              <a:gd name="adj" fmla="val 4000"/>
            </a:avLst>
          </a:prstGeom>
          <a:solidFill>
            <a:srgbClr val="F5F9FC"/>
          </a:solidFill>
          <a:ln w="12700">
            <a:solidFill>
              <a:srgbClr val="D0E4F0"/>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384048" y="1234440"/>
            <a:ext cx="2523744" cy="411480"/>
          </a:xfrm>
          <a:prstGeom prst="rect">
            <a:avLst/>
          </a:prstGeom>
          <a:noFill/>
          <a:ln/>
        </p:spPr>
        <p:txBody>
          <a:bodyPr wrap="square" lIns="0" tIns="0" rIns="0" bIns="0" rtlCol="0" anchor="ctr"/>
          <a:lstStyle/>
          <a:p>
            <a:pPr indent="0" marL="0">
              <a:buNone/>
            </a:pPr>
            <a:r>
              <a:rPr lang="en-US" sz="1800" b="1" dirty="0">
                <a:solidFill>
                  <a:srgbClr val="0D1B2A"/>
                </a:solidFill>
                <a:latin typeface="Cambria" pitchFamily="34" charset="0"/>
                <a:ea typeface="Cambria" pitchFamily="34" charset="-122"/>
                <a:cs typeface="Cambria" pitchFamily="34" charset="-120"/>
              </a:rPr>
              <a:t>Web 1.0</a:t>
            </a:r>
            <a:endParaRPr lang="en-US" sz="1800" dirty="0"/>
          </a:p>
        </p:txBody>
      </p:sp>
      <p:sp>
        <p:nvSpPr>
          <p:cNvPr id="6" name="Text 4"/>
          <p:cNvSpPr/>
          <p:nvPr/>
        </p:nvSpPr>
        <p:spPr>
          <a:xfrm>
            <a:off x="384048" y="1627632"/>
            <a:ext cx="2523744" cy="274320"/>
          </a:xfrm>
          <a:prstGeom prst="rect">
            <a:avLst/>
          </a:prstGeom>
          <a:noFill/>
          <a:ln/>
        </p:spPr>
        <p:txBody>
          <a:bodyPr wrap="square" lIns="0" tIns="0" rIns="0" bIns="0" rtlCol="0" anchor="ctr"/>
          <a:lstStyle/>
          <a:p>
            <a:pPr indent="0" marL="0">
              <a:buNone/>
            </a:pPr>
            <a:r>
              <a:rPr lang="en-US" sz="1100" b="1" dirty="0">
                <a:solidFill>
                  <a:srgbClr val="0077B6"/>
                </a:solidFill>
                <a:latin typeface="Calibri" pitchFamily="34" charset="0"/>
                <a:ea typeface="Calibri" pitchFamily="34" charset="-122"/>
                <a:cs typeface="Calibri" pitchFamily="34" charset="-120"/>
              </a:rPr>
              <a:t>Read Only</a:t>
            </a:r>
            <a:endParaRPr lang="en-US" sz="1100" dirty="0"/>
          </a:p>
        </p:txBody>
      </p:sp>
      <p:sp>
        <p:nvSpPr>
          <p:cNvPr id="7" name="Text 5"/>
          <p:cNvSpPr/>
          <p:nvPr/>
        </p:nvSpPr>
        <p:spPr>
          <a:xfrm>
            <a:off x="384048" y="1901952"/>
            <a:ext cx="2523744" cy="256032"/>
          </a:xfrm>
          <a:prstGeom prst="rect">
            <a:avLst/>
          </a:prstGeom>
          <a:noFill/>
          <a:ln/>
        </p:spPr>
        <p:txBody>
          <a:bodyPr wrap="square" lIns="0" tIns="0" rIns="0" bIns="0" rtlCol="0" anchor="ctr"/>
          <a:lstStyle/>
          <a:p>
            <a:pPr indent="0" marL="0">
              <a:buNone/>
            </a:pPr>
            <a:r>
              <a:rPr lang="en-US" sz="1000" i="1" dirty="0">
                <a:solidFill>
                  <a:srgbClr val="90A4AE"/>
                </a:solidFill>
                <a:latin typeface="Calibri" pitchFamily="34" charset="0"/>
                <a:ea typeface="Calibri" pitchFamily="34" charset="-122"/>
                <a:cs typeface="Calibri" pitchFamily="34" charset="-120"/>
              </a:rPr>
              <a:t>1990s–2000s</a:t>
            </a:r>
            <a:endParaRPr lang="en-US" sz="1000" dirty="0"/>
          </a:p>
        </p:txBody>
      </p:sp>
      <p:sp>
        <p:nvSpPr>
          <p:cNvPr id="8" name="Shape 6"/>
          <p:cNvSpPr/>
          <p:nvPr/>
        </p:nvSpPr>
        <p:spPr>
          <a:xfrm>
            <a:off x="384048" y="2176272"/>
            <a:ext cx="2286000" cy="18288"/>
          </a:xfrm>
          <a:prstGeom prst="rect">
            <a:avLst/>
          </a:prstGeom>
          <a:solidFill>
            <a:srgbClr val="D0E4F0"/>
          </a:solidFill>
          <a:ln w="12700">
            <a:solidFill>
              <a:srgbClr val="D0E4F0"/>
            </a:solidFill>
            <a:prstDash val="solid"/>
          </a:ln>
        </p:spPr>
      </p:sp>
      <p:sp>
        <p:nvSpPr>
          <p:cNvPr id="9" name="Text 7"/>
          <p:cNvSpPr/>
          <p:nvPr/>
        </p:nvSpPr>
        <p:spPr>
          <a:xfrm>
            <a:off x="384048" y="2267712"/>
            <a:ext cx="2523744" cy="214884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Static pages, HTML sites. You could only consume content. Yahoo, early websites.</a:t>
            </a:r>
            <a:endParaRPr lang="en-US" sz="1150" dirty="0"/>
          </a:p>
        </p:txBody>
      </p:sp>
      <p:sp>
        <p:nvSpPr>
          <p:cNvPr id="10" name="Shape 8"/>
          <p:cNvSpPr/>
          <p:nvPr/>
        </p:nvSpPr>
        <p:spPr>
          <a:xfrm>
            <a:off x="3246120" y="1097280"/>
            <a:ext cx="2743200" cy="3474720"/>
          </a:xfrm>
          <a:prstGeom prst="roundRect">
            <a:avLst>
              <a:gd name="adj" fmla="val 4000"/>
            </a:avLst>
          </a:prstGeom>
          <a:solidFill>
            <a:srgbClr val="F5F9FC"/>
          </a:solidFill>
          <a:ln w="12700">
            <a:solidFill>
              <a:srgbClr val="D0E4F0"/>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3355848" y="1234440"/>
            <a:ext cx="2523744" cy="411480"/>
          </a:xfrm>
          <a:prstGeom prst="rect">
            <a:avLst/>
          </a:prstGeom>
          <a:noFill/>
          <a:ln/>
        </p:spPr>
        <p:txBody>
          <a:bodyPr wrap="square" lIns="0" tIns="0" rIns="0" bIns="0" rtlCol="0" anchor="ctr"/>
          <a:lstStyle/>
          <a:p>
            <a:pPr indent="0" marL="0">
              <a:buNone/>
            </a:pPr>
            <a:r>
              <a:rPr lang="en-US" sz="1800" b="1" dirty="0">
                <a:solidFill>
                  <a:srgbClr val="0D1B2A"/>
                </a:solidFill>
                <a:latin typeface="Cambria" pitchFamily="34" charset="0"/>
                <a:ea typeface="Cambria" pitchFamily="34" charset="-122"/>
                <a:cs typeface="Cambria" pitchFamily="34" charset="-120"/>
              </a:rPr>
              <a:t>Web 2.0</a:t>
            </a:r>
            <a:endParaRPr lang="en-US" sz="1800" dirty="0"/>
          </a:p>
        </p:txBody>
      </p:sp>
      <p:sp>
        <p:nvSpPr>
          <p:cNvPr id="12" name="Text 10"/>
          <p:cNvSpPr/>
          <p:nvPr/>
        </p:nvSpPr>
        <p:spPr>
          <a:xfrm>
            <a:off x="3355848" y="1627632"/>
            <a:ext cx="2523744" cy="274320"/>
          </a:xfrm>
          <a:prstGeom prst="rect">
            <a:avLst/>
          </a:prstGeom>
          <a:noFill/>
          <a:ln/>
        </p:spPr>
        <p:txBody>
          <a:bodyPr wrap="square" lIns="0" tIns="0" rIns="0" bIns="0" rtlCol="0" anchor="ctr"/>
          <a:lstStyle/>
          <a:p>
            <a:pPr indent="0" marL="0">
              <a:buNone/>
            </a:pPr>
            <a:r>
              <a:rPr lang="en-US" sz="1100" b="1" dirty="0">
                <a:solidFill>
                  <a:srgbClr val="0077B6"/>
                </a:solidFill>
                <a:latin typeface="Calibri" pitchFamily="34" charset="0"/>
                <a:ea typeface="Calibri" pitchFamily="34" charset="-122"/>
                <a:cs typeface="Calibri" pitchFamily="34" charset="-120"/>
              </a:rPr>
              <a:t>Read + Write</a:t>
            </a:r>
            <a:endParaRPr lang="en-US" sz="1100" dirty="0"/>
          </a:p>
        </p:txBody>
      </p:sp>
      <p:sp>
        <p:nvSpPr>
          <p:cNvPr id="13" name="Text 11"/>
          <p:cNvSpPr/>
          <p:nvPr/>
        </p:nvSpPr>
        <p:spPr>
          <a:xfrm>
            <a:off x="3355848" y="1901952"/>
            <a:ext cx="2523744" cy="256032"/>
          </a:xfrm>
          <a:prstGeom prst="rect">
            <a:avLst/>
          </a:prstGeom>
          <a:noFill/>
          <a:ln/>
        </p:spPr>
        <p:txBody>
          <a:bodyPr wrap="square" lIns="0" tIns="0" rIns="0" bIns="0" rtlCol="0" anchor="ctr"/>
          <a:lstStyle/>
          <a:p>
            <a:pPr indent="0" marL="0">
              <a:buNone/>
            </a:pPr>
            <a:r>
              <a:rPr lang="en-US" sz="1000" i="1" dirty="0">
                <a:solidFill>
                  <a:srgbClr val="90A4AE"/>
                </a:solidFill>
                <a:latin typeface="Calibri" pitchFamily="34" charset="0"/>
                <a:ea typeface="Calibri" pitchFamily="34" charset="-122"/>
                <a:cs typeface="Calibri" pitchFamily="34" charset="-120"/>
              </a:rPr>
              <a:t>2000s–Now</a:t>
            </a:r>
            <a:endParaRPr lang="en-US" sz="1000" dirty="0"/>
          </a:p>
        </p:txBody>
      </p:sp>
      <p:sp>
        <p:nvSpPr>
          <p:cNvPr id="14" name="Shape 12"/>
          <p:cNvSpPr/>
          <p:nvPr/>
        </p:nvSpPr>
        <p:spPr>
          <a:xfrm>
            <a:off x="3355848" y="2176272"/>
            <a:ext cx="2286000" cy="18288"/>
          </a:xfrm>
          <a:prstGeom prst="rect">
            <a:avLst/>
          </a:prstGeom>
          <a:solidFill>
            <a:srgbClr val="D0E4F0"/>
          </a:solidFill>
          <a:ln w="12700">
            <a:solidFill>
              <a:srgbClr val="D0E4F0"/>
            </a:solidFill>
            <a:prstDash val="solid"/>
          </a:ln>
        </p:spPr>
      </p:sp>
      <p:sp>
        <p:nvSpPr>
          <p:cNvPr id="15" name="Text 13"/>
          <p:cNvSpPr/>
          <p:nvPr/>
        </p:nvSpPr>
        <p:spPr>
          <a:xfrm>
            <a:off x="3355848" y="2267712"/>
            <a:ext cx="2523744" cy="2148840"/>
          </a:xfrm>
          <a:prstGeom prst="rect">
            <a:avLst/>
          </a:prstGeom>
          <a:noFill/>
          <a:ln/>
        </p:spPr>
        <p:txBody>
          <a:bodyPr wrap="square" lIns="0" tIns="0" rIns="0" bIns="0" rtlCol="0" anchor="t"/>
          <a:lstStyle/>
          <a:p>
            <a:pPr indent="0" marL="0">
              <a:buNone/>
            </a:pPr>
            <a:r>
              <a:rPr lang="en-US" sz="1150" dirty="0">
                <a:solidFill>
                  <a:srgbClr val="374151"/>
                </a:solidFill>
                <a:latin typeface="Calibri" pitchFamily="34" charset="0"/>
                <a:ea typeface="Calibri" pitchFamily="34" charset="-122"/>
                <a:cs typeface="Calibri" pitchFamily="34" charset="-120"/>
              </a:rPr>
              <a:t>Social media, apps, cloud. Platforms own your data. Google, Meta, Amazon.</a:t>
            </a:r>
            <a:endParaRPr lang="en-US" sz="1150" dirty="0"/>
          </a:p>
        </p:txBody>
      </p:sp>
      <p:sp>
        <p:nvSpPr>
          <p:cNvPr id="16" name="Shape 14"/>
          <p:cNvSpPr/>
          <p:nvPr/>
        </p:nvSpPr>
        <p:spPr>
          <a:xfrm>
            <a:off x="6217920" y="1097280"/>
            <a:ext cx="2743200" cy="3474720"/>
          </a:xfrm>
          <a:prstGeom prst="roundRect">
            <a:avLst>
              <a:gd name="adj" fmla="val 4000"/>
            </a:avLst>
          </a:prstGeom>
          <a:solidFill>
            <a:srgbClr val="0D1B2A"/>
          </a:solidFill>
          <a:ln w="25400">
            <a:solidFill>
              <a:srgbClr val="00B4D8"/>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6327648" y="1234440"/>
            <a:ext cx="2523744" cy="411480"/>
          </a:xfrm>
          <a:prstGeom prst="rect">
            <a:avLst/>
          </a:prstGeom>
          <a:noFill/>
          <a:ln/>
        </p:spPr>
        <p:txBody>
          <a:bodyPr wrap="square" lIns="0" tIns="0" rIns="0" bIns="0" rtlCol="0" anchor="ctr"/>
          <a:lstStyle/>
          <a:p>
            <a:pPr indent="0" marL="0">
              <a:buNone/>
            </a:pPr>
            <a:r>
              <a:rPr lang="en-US" sz="1800" b="1" dirty="0">
                <a:solidFill>
                  <a:srgbClr val="00B4D8"/>
                </a:solidFill>
                <a:latin typeface="Cambria" pitchFamily="34" charset="0"/>
                <a:ea typeface="Cambria" pitchFamily="34" charset="-122"/>
                <a:cs typeface="Cambria" pitchFamily="34" charset="-120"/>
              </a:rPr>
              <a:t>Web 3.0</a:t>
            </a:r>
            <a:endParaRPr lang="en-US" sz="1800" dirty="0"/>
          </a:p>
        </p:txBody>
      </p:sp>
      <p:sp>
        <p:nvSpPr>
          <p:cNvPr id="18" name="Text 16"/>
          <p:cNvSpPr/>
          <p:nvPr/>
        </p:nvSpPr>
        <p:spPr>
          <a:xfrm>
            <a:off x="6327648" y="1627632"/>
            <a:ext cx="252374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Read + Write + Own</a:t>
            </a:r>
            <a:endParaRPr lang="en-US" sz="1100" dirty="0"/>
          </a:p>
        </p:txBody>
      </p:sp>
      <p:sp>
        <p:nvSpPr>
          <p:cNvPr id="19" name="Text 17"/>
          <p:cNvSpPr/>
          <p:nvPr/>
        </p:nvSpPr>
        <p:spPr>
          <a:xfrm>
            <a:off x="6327648" y="1901952"/>
            <a:ext cx="2523744" cy="256032"/>
          </a:xfrm>
          <a:prstGeom prst="rect">
            <a:avLst/>
          </a:prstGeom>
          <a:noFill/>
          <a:ln/>
        </p:spPr>
        <p:txBody>
          <a:bodyPr wrap="square" lIns="0" tIns="0" rIns="0" bIns="0" rtlCol="0" anchor="ctr"/>
          <a:lstStyle/>
          <a:p>
            <a:pPr indent="0" marL="0">
              <a:buNone/>
            </a:pPr>
            <a:r>
              <a:rPr lang="en-US" sz="1000" i="1" dirty="0">
                <a:solidFill>
                  <a:srgbClr val="90A4AE"/>
                </a:solidFill>
                <a:latin typeface="Calibri" pitchFamily="34" charset="0"/>
                <a:ea typeface="Calibri" pitchFamily="34" charset="-122"/>
                <a:cs typeface="Calibri" pitchFamily="34" charset="-120"/>
              </a:rPr>
              <a:t>Emerging Now</a:t>
            </a:r>
            <a:endParaRPr lang="en-US" sz="1000" dirty="0"/>
          </a:p>
        </p:txBody>
      </p:sp>
      <p:sp>
        <p:nvSpPr>
          <p:cNvPr id="20" name="Shape 18"/>
          <p:cNvSpPr/>
          <p:nvPr/>
        </p:nvSpPr>
        <p:spPr>
          <a:xfrm>
            <a:off x="6327648" y="2176272"/>
            <a:ext cx="2286000" cy="18288"/>
          </a:xfrm>
          <a:prstGeom prst="rect">
            <a:avLst/>
          </a:prstGeom>
          <a:solidFill>
            <a:srgbClr val="00B4D8"/>
          </a:solidFill>
          <a:ln w="12700">
            <a:solidFill>
              <a:srgbClr val="00B4D8"/>
            </a:solidFill>
            <a:prstDash val="solid"/>
          </a:ln>
        </p:spPr>
      </p:sp>
      <p:sp>
        <p:nvSpPr>
          <p:cNvPr id="21" name="Text 19"/>
          <p:cNvSpPr/>
          <p:nvPr/>
        </p:nvSpPr>
        <p:spPr>
          <a:xfrm>
            <a:off x="6327648" y="2267712"/>
            <a:ext cx="2523744" cy="2148840"/>
          </a:xfrm>
          <a:prstGeom prst="rect">
            <a:avLst/>
          </a:prstGeom>
          <a:noFill/>
          <a:ln/>
        </p:spPr>
        <p:txBody>
          <a:bodyPr wrap="square" lIns="0" tIns="0" rIns="0" bIns="0" rtlCol="0" anchor="t"/>
          <a:lstStyle/>
          <a:p>
            <a:pPr indent="0" marL="0">
              <a:buNone/>
            </a:pPr>
            <a:r>
              <a:rPr lang="en-US" sz="1150" dirty="0">
                <a:solidFill>
                  <a:srgbClr val="E8F4FD"/>
                </a:solidFill>
                <a:latin typeface="Calibri" pitchFamily="34" charset="0"/>
                <a:ea typeface="Calibri" pitchFamily="34" charset="-122"/>
                <a:cs typeface="Calibri" pitchFamily="34" charset="-120"/>
              </a:rPr>
              <a:t>Decentralized. You own your data, identity, and digital assets. No single authority.</a:t>
            </a:r>
            <a:endParaRPr lang="en-US" sz="1150" dirty="0"/>
          </a:p>
        </p:txBody>
      </p:sp>
      <p:sp>
        <p:nvSpPr>
          <p:cNvPr id="22" name="Shape 20"/>
          <p:cNvSpPr/>
          <p:nvPr/>
        </p:nvSpPr>
        <p:spPr>
          <a:xfrm>
            <a:off x="274320" y="4663440"/>
            <a:ext cx="8595360" cy="347472"/>
          </a:xfrm>
          <a:prstGeom prst="roundRect">
            <a:avLst>
              <a:gd name="adj" fmla="val 15789"/>
            </a:avLst>
          </a:prstGeom>
          <a:solidFill>
            <a:srgbClr val="EBF8FF"/>
          </a:solidFill>
          <a:ln w="12700">
            <a:solidFill>
              <a:srgbClr val="00B4D8"/>
            </a:solidFill>
            <a:prstDash val="solid"/>
          </a:ln>
        </p:spPr>
      </p:sp>
      <p:sp>
        <p:nvSpPr>
          <p:cNvPr id="23" name="Text 21"/>
          <p:cNvSpPr/>
          <p:nvPr/>
        </p:nvSpPr>
        <p:spPr>
          <a:xfrm>
            <a:off x="411480" y="4690872"/>
            <a:ext cx="8412480" cy="301752"/>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  Key Insight: Web3 shifts power from corporations to users through decentralization and cryptography.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Blockchain Actually Works</a:t>
            </a:r>
            <a:endParaRPr lang="en-US" sz="28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300" i="1" dirty="0">
                <a:solidFill>
                  <a:srgbClr val="00B4D8"/>
                </a:solidFill>
                <a:latin typeface="Calibri" pitchFamily="34" charset="0"/>
                <a:ea typeface="Calibri" pitchFamily="34" charset="-122"/>
                <a:cs typeface="Calibri" pitchFamily="34" charset="-120"/>
              </a:rPr>
              <a:t>A shared, tamper-proof ledger — no middleman needed</a:t>
            </a:r>
            <a:endParaRPr lang="en-US" sz="1300" dirty="0"/>
          </a:p>
        </p:txBody>
      </p:sp>
      <p:sp>
        <p:nvSpPr>
          <p:cNvPr id="4" name="Shape 2"/>
          <p:cNvSpPr/>
          <p:nvPr/>
        </p:nvSpPr>
        <p:spPr>
          <a:xfrm>
            <a:off x="365760" y="1234440"/>
            <a:ext cx="1920240" cy="1417320"/>
          </a:xfrm>
          <a:prstGeom prst="roundRect">
            <a:avLst>
              <a:gd name="adj" fmla="val 6452"/>
            </a:avLst>
          </a:prstGeom>
          <a:solidFill>
            <a:srgbClr val="1E3A5F"/>
          </a:solidFill>
          <a:ln w="25400">
            <a:solidFill>
              <a:srgbClr val="00B4D8"/>
            </a:solidFill>
            <a:prstDash val="solid"/>
          </a:ln>
        </p:spPr>
      </p:sp>
      <p:sp>
        <p:nvSpPr>
          <p:cNvPr id="5" name="Text 3"/>
          <p:cNvSpPr/>
          <p:nvPr/>
        </p:nvSpPr>
        <p:spPr>
          <a:xfrm>
            <a:off x="411480" y="1280160"/>
            <a:ext cx="1828800" cy="13258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Block #1</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Genesis</a:t>
            </a:r>
            <a:endParaRPr lang="en-US" sz="1200" dirty="0"/>
          </a:p>
        </p:txBody>
      </p:sp>
      <p:sp>
        <p:nvSpPr>
          <p:cNvPr id="6" name="Shape 4"/>
          <p:cNvSpPr/>
          <p:nvPr/>
        </p:nvSpPr>
        <p:spPr>
          <a:xfrm>
            <a:off x="2286000" y="1901952"/>
            <a:ext cx="201168" cy="36576"/>
          </a:xfrm>
          <a:prstGeom prst="rect">
            <a:avLst/>
          </a:prstGeom>
          <a:solidFill>
            <a:srgbClr val="00B4D8"/>
          </a:solidFill>
          <a:ln w="12700">
            <a:solidFill>
              <a:srgbClr val="00B4D8"/>
            </a:solidFill>
            <a:prstDash val="solid"/>
          </a:ln>
        </p:spPr>
      </p:sp>
      <p:sp>
        <p:nvSpPr>
          <p:cNvPr id="7" name="Shape 5"/>
          <p:cNvSpPr/>
          <p:nvPr/>
        </p:nvSpPr>
        <p:spPr>
          <a:xfrm>
            <a:off x="2514600" y="1234440"/>
            <a:ext cx="1920240" cy="1417320"/>
          </a:xfrm>
          <a:prstGeom prst="roundRect">
            <a:avLst>
              <a:gd name="adj" fmla="val 6452"/>
            </a:avLst>
          </a:prstGeom>
          <a:solidFill>
            <a:srgbClr val="1E3A5F"/>
          </a:solidFill>
          <a:ln w="25400">
            <a:solidFill>
              <a:srgbClr val="00B4D8"/>
            </a:solidFill>
            <a:prstDash val="solid"/>
          </a:ln>
        </p:spPr>
      </p:sp>
      <p:sp>
        <p:nvSpPr>
          <p:cNvPr id="8" name="Text 6"/>
          <p:cNvSpPr/>
          <p:nvPr/>
        </p:nvSpPr>
        <p:spPr>
          <a:xfrm>
            <a:off x="2560320" y="1280160"/>
            <a:ext cx="1828800" cy="13258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Block #2</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Data</a:t>
            </a:r>
            <a:endParaRPr lang="en-US" sz="1200" dirty="0"/>
          </a:p>
        </p:txBody>
      </p:sp>
      <p:sp>
        <p:nvSpPr>
          <p:cNvPr id="9" name="Shape 7"/>
          <p:cNvSpPr/>
          <p:nvPr/>
        </p:nvSpPr>
        <p:spPr>
          <a:xfrm>
            <a:off x="4434840" y="1901952"/>
            <a:ext cx="201168" cy="36576"/>
          </a:xfrm>
          <a:prstGeom prst="rect">
            <a:avLst/>
          </a:prstGeom>
          <a:solidFill>
            <a:srgbClr val="00B4D8"/>
          </a:solidFill>
          <a:ln w="12700">
            <a:solidFill>
              <a:srgbClr val="00B4D8"/>
            </a:solidFill>
            <a:prstDash val="solid"/>
          </a:ln>
        </p:spPr>
      </p:sp>
      <p:sp>
        <p:nvSpPr>
          <p:cNvPr id="10" name="Shape 8"/>
          <p:cNvSpPr/>
          <p:nvPr/>
        </p:nvSpPr>
        <p:spPr>
          <a:xfrm>
            <a:off x="4663440" y="1234440"/>
            <a:ext cx="1920240" cy="1417320"/>
          </a:xfrm>
          <a:prstGeom prst="roundRect">
            <a:avLst>
              <a:gd name="adj" fmla="val 6452"/>
            </a:avLst>
          </a:prstGeom>
          <a:solidFill>
            <a:srgbClr val="1E3A5F"/>
          </a:solidFill>
          <a:ln w="25400">
            <a:solidFill>
              <a:srgbClr val="00B4D8"/>
            </a:solidFill>
            <a:prstDash val="solid"/>
          </a:ln>
        </p:spPr>
      </p:sp>
      <p:sp>
        <p:nvSpPr>
          <p:cNvPr id="11" name="Text 9"/>
          <p:cNvSpPr/>
          <p:nvPr/>
        </p:nvSpPr>
        <p:spPr>
          <a:xfrm>
            <a:off x="4709160" y="1280160"/>
            <a:ext cx="1828800" cy="13258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Block #3</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Linked</a:t>
            </a:r>
            <a:endParaRPr lang="en-US" sz="1200" dirty="0"/>
          </a:p>
        </p:txBody>
      </p:sp>
      <p:sp>
        <p:nvSpPr>
          <p:cNvPr id="12" name="Shape 10"/>
          <p:cNvSpPr/>
          <p:nvPr/>
        </p:nvSpPr>
        <p:spPr>
          <a:xfrm>
            <a:off x="6583680" y="1901952"/>
            <a:ext cx="201168" cy="36576"/>
          </a:xfrm>
          <a:prstGeom prst="rect">
            <a:avLst/>
          </a:prstGeom>
          <a:solidFill>
            <a:srgbClr val="00B4D8"/>
          </a:solidFill>
          <a:ln w="12700">
            <a:solidFill>
              <a:srgbClr val="00B4D8"/>
            </a:solidFill>
            <a:prstDash val="solid"/>
          </a:ln>
        </p:spPr>
      </p:sp>
      <p:sp>
        <p:nvSpPr>
          <p:cNvPr id="13" name="Shape 11"/>
          <p:cNvSpPr/>
          <p:nvPr/>
        </p:nvSpPr>
        <p:spPr>
          <a:xfrm>
            <a:off x="6812280" y="1234440"/>
            <a:ext cx="1920240" cy="1417320"/>
          </a:xfrm>
          <a:prstGeom prst="roundRect">
            <a:avLst>
              <a:gd name="adj" fmla="val 6452"/>
            </a:avLst>
          </a:prstGeom>
          <a:solidFill>
            <a:srgbClr val="1E3A5F"/>
          </a:solidFill>
          <a:ln w="25400">
            <a:solidFill>
              <a:srgbClr val="00B4D8"/>
            </a:solidFill>
            <a:prstDash val="solid"/>
          </a:ln>
        </p:spPr>
      </p:sp>
      <p:sp>
        <p:nvSpPr>
          <p:cNvPr id="14" name="Text 12"/>
          <p:cNvSpPr/>
          <p:nvPr/>
        </p:nvSpPr>
        <p:spPr>
          <a:xfrm>
            <a:off x="6858000" y="1280160"/>
            <a:ext cx="1828800" cy="13258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Block #4</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 Verified</a:t>
            </a:r>
            <a:endParaRPr lang="en-US" sz="1200" dirty="0"/>
          </a:p>
        </p:txBody>
      </p:sp>
      <p:sp>
        <p:nvSpPr>
          <p:cNvPr id="15" name="Shape 13"/>
          <p:cNvSpPr/>
          <p:nvPr/>
        </p:nvSpPr>
        <p:spPr>
          <a:xfrm>
            <a:off x="365760" y="2834640"/>
            <a:ext cx="1920240" cy="1828800"/>
          </a:xfrm>
          <a:prstGeom prst="roundRect">
            <a:avLst>
              <a:gd name="adj" fmla="val 5000"/>
            </a:avLst>
          </a:prstGeom>
          <a:solidFill>
            <a:srgbClr val="0A2540"/>
          </a:solidFill>
          <a:ln w="12700">
            <a:solidFill>
              <a:srgbClr val="0077B6"/>
            </a:solidFill>
            <a:prstDash val="solid"/>
          </a:ln>
        </p:spPr>
      </p:sp>
      <p:sp>
        <p:nvSpPr>
          <p:cNvPr id="16" name="Text 14"/>
          <p:cNvSpPr/>
          <p:nvPr/>
        </p:nvSpPr>
        <p:spPr>
          <a:xfrm>
            <a:off x="411480" y="2926080"/>
            <a:ext cx="182880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411480" y="3337560"/>
            <a:ext cx="1828800" cy="320040"/>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Immutable</a:t>
            </a:r>
            <a:endParaRPr lang="en-US" sz="1300" dirty="0"/>
          </a:p>
        </p:txBody>
      </p:sp>
      <p:sp>
        <p:nvSpPr>
          <p:cNvPr id="18" name="Text 16"/>
          <p:cNvSpPr/>
          <p:nvPr/>
        </p:nvSpPr>
        <p:spPr>
          <a:xfrm>
            <a:off x="438912" y="3657600"/>
            <a:ext cx="1783080" cy="914400"/>
          </a:xfrm>
          <a:prstGeom prst="rect">
            <a:avLst/>
          </a:prstGeom>
          <a:noFill/>
          <a:ln/>
        </p:spPr>
        <p:txBody>
          <a:bodyPr wrap="square" lIns="0" tIns="0" rIns="0" bIns="0" rtlCol="0" anchor="ctr"/>
          <a:lstStyle/>
          <a:p>
            <a:pPr algn="ctr" indent="0" marL="0">
              <a:buNone/>
            </a:pPr>
            <a:r>
              <a:rPr lang="en-US" sz="1050" dirty="0">
                <a:solidFill>
                  <a:srgbClr val="E8F4FD"/>
                </a:solidFill>
                <a:latin typeface="Calibri" pitchFamily="34" charset="0"/>
                <a:ea typeface="Calibri" pitchFamily="34" charset="-122"/>
                <a:cs typeface="Calibri" pitchFamily="34" charset="-120"/>
              </a:rPr>
              <a:t>Once written, data cannot be altered or deleted</a:t>
            </a:r>
            <a:endParaRPr lang="en-US" sz="1050" dirty="0"/>
          </a:p>
        </p:txBody>
      </p:sp>
      <p:sp>
        <p:nvSpPr>
          <p:cNvPr id="19" name="Shape 17"/>
          <p:cNvSpPr/>
          <p:nvPr/>
        </p:nvSpPr>
        <p:spPr>
          <a:xfrm>
            <a:off x="2514600" y="2834640"/>
            <a:ext cx="1920240" cy="1828800"/>
          </a:xfrm>
          <a:prstGeom prst="roundRect">
            <a:avLst>
              <a:gd name="adj" fmla="val 5000"/>
            </a:avLst>
          </a:prstGeom>
          <a:solidFill>
            <a:srgbClr val="0A2540"/>
          </a:solidFill>
          <a:ln w="12700">
            <a:solidFill>
              <a:srgbClr val="0077B6"/>
            </a:solidFill>
            <a:prstDash val="solid"/>
          </a:ln>
        </p:spPr>
      </p:sp>
      <p:sp>
        <p:nvSpPr>
          <p:cNvPr id="20" name="Text 18"/>
          <p:cNvSpPr/>
          <p:nvPr/>
        </p:nvSpPr>
        <p:spPr>
          <a:xfrm>
            <a:off x="2560320" y="2926080"/>
            <a:ext cx="182880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2560320" y="3337560"/>
            <a:ext cx="1828800" cy="320040"/>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Decentralized</a:t>
            </a:r>
            <a:endParaRPr lang="en-US" sz="1300" dirty="0"/>
          </a:p>
        </p:txBody>
      </p:sp>
      <p:sp>
        <p:nvSpPr>
          <p:cNvPr id="22" name="Text 20"/>
          <p:cNvSpPr/>
          <p:nvPr/>
        </p:nvSpPr>
        <p:spPr>
          <a:xfrm>
            <a:off x="2587752" y="3657600"/>
            <a:ext cx="1783080" cy="914400"/>
          </a:xfrm>
          <a:prstGeom prst="rect">
            <a:avLst/>
          </a:prstGeom>
          <a:noFill/>
          <a:ln/>
        </p:spPr>
        <p:txBody>
          <a:bodyPr wrap="square" lIns="0" tIns="0" rIns="0" bIns="0" rtlCol="0" anchor="ctr"/>
          <a:lstStyle/>
          <a:p>
            <a:pPr algn="ctr" indent="0" marL="0">
              <a:buNone/>
            </a:pPr>
            <a:r>
              <a:rPr lang="en-US" sz="1050" dirty="0">
                <a:solidFill>
                  <a:srgbClr val="E8F4FD"/>
                </a:solidFill>
                <a:latin typeface="Calibri" pitchFamily="34" charset="0"/>
                <a:ea typeface="Calibri" pitchFamily="34" charset="-122"/>
                <a:cs typeface="Calibri" pitchFamily="34" charset="-120"/>
              </a:rPr>
              <a:t>Thousands of computers hold copies simultaneously</a:t>
            </a:r>
            <a:endParaRPr lang="en-US" sz="1050" dirty="0"/>
          </a:p>
        </p:txBody>
      </p:sp>
      <p:sp>
        <p:nvSpPr>
          <p:cNvPr id="23" name="Shape 21"/>
          <p:cNvSpPr/>
          <p:nvPr/>
        </p:nvSpPr>
        <p:spPr>
          <a:xfrm>
            <a:off x="4663440" y="2834640"/>
            <a:ext cx="1920240" cy="1828800"/>
          </a:xfrm>
          <a:prstGeom prst="roundRect">
            <a:avLst>
              <a:gd name="adj" fmla="val 5000"/>
            </a:avLst>
          </a:prstGeom>
          <a:solidFill>
            <a:srgbClr val="0A2540"/>
          </a:solidFill>
          <a:ln w="12700">
            <a:solidFill>
              <a:srgbClr val="0077B6"/>
            </a:solidFill>
            <a:prstDash val="solid"/>
          </a:ln>
        </p:spPr>
      </p:sp>
      <p:sp>
        <p:nvSpPr>
          <p:cNvPr id="24" name="Text 22"/>
          <p:cNvSpPr/>
          <p:nvPr/>
        </p:nvSpPr>
        <p:spPr>
          <a:xfrm>
            <a:off x="4709160" y="2926080"/>
            <a:ext cx="182880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4709160" y="3337560"/>
            <a:ext cx="1828800" cy="320040"/>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Transparent</a:t>
            </a:r>
            <a:endParaRPr lang="en-US" sz="1300" dirty="0"/>
          </a:p>
        </p:txBody>
      </p:sp>
      <p:sp>
        <p:nvSpPr>
          <p:cNvPr id="26" name="Text 24"/>
          <p:cNvSpPr/>
          <p:nvPr/>
        </p:nvSpPr>
        <p:spPr>
          <a:xfrm>
            <a:off x="4736592" y="3657600"/>
            <a:ext cx="1783080" cy="914400"/>
          </a:xfrm>
          <a:prstGeom prst="rect">
            <a:avLst/>
          </a:prstGeom>
          <a:noFill/>
          <a:ln/>
        </p:spPr>
        <p:txBody>
          <a:bodyPr wrap="square" lIns="0" tIns="0" rIns="0" bIns="0" rtlCol="0" anchor="ctr"/>
          <a:lstStyle/>
          <a:p>
            <a:pPr algn="ctr" indent="0" marL="0">
              <a:buNone/>
            </a:pPr>
            <a:r>
              <a:rPr lang="en-US" sz="1050" dirty="0">
                <a:solidFill>
                  <a:srgbClr val="E8F4FD"/>
                </a:solidFill>
                <a:latin typeface="Calibri" pitchFamily="34" charset="0"/>
                <a:ea typeface="Calibri" pitchFamily="34" charset="-122"/>
                <a:cs typeface="Calibri" pitchFamily="34" charset="-120"/>
              </a:rPr>
              <a:t>Anyone can verify transactions on a public chain</a:t>
            </a:r>
            <a:endParaRPr lang="en-US" sz="1050" dirty="0"/>
          </a:p>
        </p:txBody>
      </p:sp>
      <p:sp>
        <p:nvSpPr>
          <p:cNvPr id="27" name="Shape 25"/>
          <p:cNvSpPr/>
          <p:nvPr/>
        </p:nvSpPr>
        <p:spPr>
          <a:xfrm>
            <a:off x="6812280" y="2834640"/>
            <a:ext cx="1920240" cy="1828800"/>
          </a:xfrm>
          <a:prstGeom prst="roundRect">
            <a:avLst>
              <a:gd name="adj" fmla="val 5000"/>
            </a:avLst>
          </a:prstGeom>
          <a:solidFill>
            <a:srgbClr val="0A2540"/>
          </a:solidFill>
          <a:ln w="12700">
            <a:solidFill>
              <a:srgbClr val="0077B6"/>
            </a:solidFill>
            <a:prstDash val="solid"/>
          </a:ln>
        </p:spPr>
      </p:sp>
      <p:sp>
        <p:nvSpPr>
          <p:cNvPr id="28" name="Text 26"/>
          <p:cNvSpPr/>
          <p:nvPr/>
        </p:nvSpPr>
        <p:spPr>
          <a:xfrm>
            <a:off x="6858000" y="2926080"/>
            <a:ext cx="182880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6858000" y="3337560"/>
            <a:ext cx="1828800" cy="320040"/>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Trustless</a:t>
            </a:r>
            <a:endParaRPr lang="en-US" sz="1300" dirty="0"/>
          </a:p>
        </p:txBody>
      </p:sp>
      <p:sp>
        <p:nvSpPr>
          <p:cNvPr id="30" name="Text 28"/>
          <p:cNvSpPr/>
          <p:nvPr/>
        </p:nvSpPr>
        <p:spPr>
          <a:xfrm>
            <a:off x="6885432" y="3657600"/>
            <a:ext cx="1783080" cy="914400"/>
          </a:xfrm>
          <a:prstGeom prst="rect">
            <a:avLst/>
          </a:prstGeom>
          <a:noFill/>
          <a:ln/>
        </p:spPr>
        <p:txBody>
          <a:bodyPr wrap="square" lIns="0" tIns="0" rIns="0" bIns="0" rtlCol="0" anchor="ctr"/>
          <a:lstStyle/>
          <a:p>
            <a:pPr algn="ctr" indent="0" marL="0">
              <a:buNone/>
            </a:pPr>
            <a:r>
              <a:rPr lang="en-US" sz="1050" dirty="0">
                <a:solidFill>
                  <a:srgbClr val="E8F4FD"/>
                </a:solidFill>
                <a:latin typeface="Calibri" pitchFamily="34" charset="0"/>
                <a:ea typeface="Calibri" pitchFamily="34" charset="-122"/>
                <a:cs typeface="Calibri" pitchFamily="34" charset="-120"/>
              </a:rPr>
              <a:t>No need for banks or intermediaries to verify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sp>
      <p:sp>
        <p:nvSpPr>
          <p:cNvPr id="3" name="Text 1"/>
          <p:cNvSpPr/>
          <p:nvPr/>
        </p:nvSpPr>
        <p:spPr>
          <a:xfrm>
            <a:off x="457200" y="91440"/>
            <a:ext cx="822960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Real-World Use Cases</a:t>
            </a:r>
            <a:endParaRPr lang="en-US" sz="2800" dirty="0"/>
          </a:p>
        </p:txBody>
      </p:sp>
      <p:sp>
        <p:nvSpPr>
          <p:cNvPr id="4" name="Text 2"/>
          <p:cNvSpPr/>
          <p:nvPr/>
        </p:nvSpPr>
        <p:spPr>
          <a:xfrm>
            <a:off x="457200" y="713232"/>
            <a:ext cx="8229600" cy="256032"/>
          </a:xfrm>
          <a:prstGeom prst="rect">
            <a:avLst/>
          </a:prstGeom>
          <a:noFill/>
          <a:ln/>
        </p:spPr>
        <p:txBody>
          <a:bodyPr wrap="square" lIns="0" tIns="0" rIns="0" bIns="0" rtlCol="0" anchor="ctr"/>
          <a:lstStyle/>
          <a:p>
            <a:pPr indent="0" marL="0">
              <a:buNone/>
            </a:pPr>
            <a:r>
              <a:rPr lang="en-US" sz="1200" i="1" dirty="0">
                <a:solidFill>
                  <a:srgbClr val="00B4D8"/>
                </a:solidFill>
                <a:latin typeface="Calibri" pitchFamily="34" charset="0"/>
                <a:ea typeface="Calibri" pitchFamily="34" charset="-122"/>
                <a:cs typeface="Calibri" pitchFamily="34" charset="-120"/>
              </a:rPr>
              <a:t>Already transforming major industries in 2025–2026</a:t>
            </a:r>
            <a:endParaRPr lang="en-US" sz="1200" dirty="0"/>
          </a:p>
        </p:txBody>
      </p:sp>
      <p:sp>
        <p:nvSpPr>
          <p:cNvPr id="5" name="Shape 3"/>
          <p:cNvSpPr/>
          <p:nvPr/>
        </p:nvSpPr>
        <p:spPr>
          <a:xfrm>
            <a:off x="274320" y="1051560"/>
            <a:ext cx="2816352" cy="1828800"/>
          </a:xfrm>
          <a:prstGeom prst="roundRect">
            <a:avLst>
              <a:gd name="adj" fmla="val 5000"/>
            </a:avLst>
          </a:prstGeom>
          <a:solidFill>
            <a:srgbClr val="EBF8FF"/>
          </a:solidFill>
          <a:ln w="12700">
            <a:solidFill>
              <a:srgbClr val="0077B6"/>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384048" y="116128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Finance &amp; DeFi</a:t>
            </a:r>
            <a:endParaRPr lang="en-US" sz="1300" dirty="0"/>
          </a:p>
        </p:txBody>
      </p:sp>
      <p:sp>
        <p:nvSpPr>
          <p:cNvPr id="7" name="Text 5"/>
          <p:cNvSpPr/>
          <p:nvPr/>
        </p:nvSpPr>
        <p:spPr>
          <a:xfrm>
            <a:off x="384048" y="152704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Peer-to-peer lending, yield farming, cross-border payments without SWIFT (JPMC Onyx, Visa B2B)</a:t>
            </a:r>
            <a:endParaRPr lang="en-US" sz="1050" dirty="0"/>
          </a:p>
        </p:txBody>
      </p:sp>
      <p:sp>
        <p:nvSpPr>
          <p:cNvPr id="8" name="Shape 6"/>
          <p:cNvSpPr/>
          <p:nvPr/>
        </p:nvSpPr>
        <p:spPr>
          <a:xfrm>
            <a:off x="3218688" y="1051560"/>
            <a:ext cx="2816352" cy="1828800"/>
          </a:xfrm>
          <a:prstGeom prst="roundRect">
            <a:avLst>
              <a:gd name="adj" fmla="val 5000"/>
            </a:avLst>
          </a:prstGeom>
          <a:solidFill>
            <a:srgbClr val="EBF8FF"/>
          </a:solidFill>
          <a:ln w="12700">
            <a:solidFill>
              <a:srgbClr val="0077B6"/>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3328416" y="116128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Healthcare</a:t>
            </a:r>
            <a:endParaRPr lang="en-US" sz="1300" dirty="0"/>
          </a:p>
        </p:txBody>
      </p:sp>
      <p:sp>
        <p:nvSpPr>
          <p:cNvPr id="10" name="Text 8"/>
          <p:cNvSpPr/>
          <p:nvPr/>
        </p:nvSpPr>
        <p:spPr>
          <a:xfrm>
            <a:off x="3328416" y="152704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Secure patient records, drug supply chain traceability, clinical trial transparency (MedRec, Pfizer trials)</a:t>
            </a:r>
            <a:endParaRPr lang="en-US" sz="1050" dirty="0"/>
          </a:p>
        </p:txBody>
      </p:sp>
      <p:sp>
        <p:nvSpPr>
          <p:cNvPr id="11" name="Shape 9"/>
          <p:cNvSpPr/>
          <p:nvPr/>
        </p:nvSpPr>
        <p:spPr>
          <a:xfrm>
            <a:off x="6163056" y="1051560"/>
            <a:ext cx="2816352" cy="1828800"/>
          </a:xfrm>
          <a:prstGeom prst="roundRect">
            <a:avLst>
              <a:gd name="adj" fmla="val 5000"/>
            </a:avLst>
          </a:prstGeom>
          <a:solidFill>
            <a:srgbClr val="EBF8FF"/>
          </a:solidFill>
          <a:ln w="12700">
            <a:solidFill>
              <a:srgbClr val="0077B6"/>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6272784" y="116128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Real Estate</a:t>
            </a:r>
            <a:endParaRPr lang="en-US" sz="1300" dirty="0"/>
          </a:p>
        </p:txBody>
      </p:sp>
      <p:sp>
        <p:nvSpPr>
          <p:cNvPr id="13" name="Text 11"/>
          <p:cNvSpPr/>
          <p:nvPr/>
        </p:nvSpPr>
        <p:spPr>
          <a:xfrm>
            <a:off x="6272784" y="152704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Fractional property ownership, smart contract deals, instant title transfer (Propy, RealT)</a:t>
            </a:r>
            <a:endParaRPr lang="en-US" sz="1050" dirty="0"/>
          </a:p>
        </p:txBody>
      </p:sp>
      <p:sp>
        <p:nvSpPr>
          <p:cNvPr id="14" name="Shape 12"/>
          <p:cNvSpPr/>
          <p:nvPr/>
        </p:nvSpPr>
        <p:spPr>
          <a:xfrm>
            <a:off x="274320" y="3017520"/>
            <a:ext cx="2816352" cy="1828800"/>
          </a:xfrm>
          <a:prstGeom prst="roundRect">
            <a:avLst>
              <a:gd name="adj" fmla="val 5000"/>
            </a:avLst>
          </a:prstGeom>
          <a:solidFill>
            <a:srgbClr val="F0FFF8"/>
          </a:solidFill>
          <a:ln w="12700">
            <a:solidFill>
              <a:srgbClr val="00A896"/>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384048" y="312724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Digital Ownership</a:t>
            </a:r>
            <a:endParaRPr lang="en-US" sz="1300" dirty="0"/>
          </a:p>
        </p:txBody>
      </p:sp>
      <p:sp>
        <p:nvSpPr>
          <p:cNvPr id="16" name="Text 14"/>
          <p:cNvSpPr/>
          <p:nvPr/>
        </p:nvSpPr>
        <p:spPr>
          <a:xfrm>
            <a:off x="384048" y="349300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NFTs for creators, royalties auto-paid on resale, event ticketing (Ticketmaster on Flow blockchain)</a:t>
            </a:r>
            <a:endParaRPr lang="en-US" sz="1050" dirty="0"/>
          </a:p>
        </p:txBody>
      </p:sp>
      <p:sp>
        <p:nvSpPr>
          <p:cNvPr id="17" name="Shape 15"/>
          <p:cNvSpPr/>
          <p:nvPr/>
        </p:nvSpPr>
        <p:spPr>
          <a:xfrm>
            <a:off x="3218688" y="3017520"/>
            <a:ext cx="2816352" cy="1828800"/>
          </a:xfrm>
          <a:prstGeom prst="roundRect">
            <a:avLst>
              <a:gd name="adj" fmla="val 5000"/>
            </a:avLst>
          </a:prstGeom>
          <a:solidFill>
            <a:srgbClr val="F0FFF8"/>
          </a:solidFill>
          <a:ln w="12700">
            <a:solidFill>
              <a:srgbClr val="00A896"/>
            </a:solidFill>
            <a:prstDash val="solid"/>
          </a:ln>
          <a:effectLst>
            <a:outerShdw sx="100000" sy="100000" kx="0" ky="0" algn="bl" rotWithShape="0" blurRad="101600" dist="38100" dir="2700000">
              <a:srgbClr val="000000">
                <a:alpha val="18000"/>
              </a:srgbClr>
            </a:outerShdw>
          </a:effectLst>
        </p:spPr>
      </p:sp>
      <p:sp>
        <p:nvSpPr>
          <p:cNvPr id="18" name="Text 16"/>
          <p:cNvSpPr/>
          <p:nvPr/>
        </p:nvSpPr>
        <p:spPr>
          <a:xfrm>
            <a:off x="3328416" y="312724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Supply Chain</a:t>
            </a:r>
            <a:endParaRPr lang="en-US" sz="1300" dirty="0"/>
          </a:p>
        </p:txBody>
      </p:sp>
      <p:sp>
        <p:nvSpPr>
          <p:cNvPr id="19" name="Text 17"/>
          <p:cNvSpPr/>
          <p:nvPr/>
        </p:nvSpPr>
        <p:spPr>
          <a:xfrm>
            <a:off x="3328416" y="349300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End-to-end product tracking, anti-counterfeiting (Maersk + IBM TradeLens, Walmart food safety)</a:t>
            </a:r>
            <a:endParaRPr lang="en-US" sz="1050" dirty="0"/>
          </a:p>
        </p:txBody>
      </p:sp>
      <p:sp>
        <p:nvSpPr>
          <p:cNvPr id="20" name="Shape 18"/>
          <p:cNvSpPr/>
          <p:nvPr/>
        </p:nvSpPr>
        <p:spPr>
          <a:xfrm>
            <a:off x="6163056" y="3017520"/>
            <a:ext cx="2816352" cy="1828800"/>
          </a:xfrm>
          <a:prstGeom prst="roundRect">
            <a:avLst>
              <a:gd name="adj" fmla="val 5000"/>
            </a:avLst>
          </a:prstGeom>
          <a:solidFill>
            <a:srgbClr val="F0FFF8"/>
          </a:solidFill>
          <a:ln w="12700">
            <a:solidFill>
              <a:srgbClr val="00A896"/>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6272784" y="3127248"/>
            <a:ext cx="2596896" cy="347472"/>
          </a:xfrm>
          <a:prstGeom prst="rect">
            <a:avLst/>
          </a:prstGeom>
          <a:noFill/>
          <a:ln/>
        </p:spPr>
        <p:txBody>
          <a:bodyPr wrap="square" lIns="0" tIns="0" rIns="0" bIns="0"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  Governance</a:t>
            </a:r>
            <a:endParaRPr lang="en-US" sz="1300" dirty="0"/>
          </a:p>
        </p:txBody>
      </p:sp>
      <p:sp>
        <p:nvSpPr>
          <p:cNvPr id="22" name="Text 20"/>
          <p:cNvSpPr/>
          <p:nvPr/>
        </p:nvSpPr>
        <p:spPr>
          <a:xfrm>
            <a:off x="6272784" y="3493008"/>
            <a:ext cx="2596896" cy="1261872"/>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Tamper-proof e-voting, decentralized autonomous organizations (DAOs), transparent public tenders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64008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Smart Contracts</a:t>
            </a:r>
            <a:endParaRPr lang="en-US" sz="2800" dirty="0"/>
          </a:p>
        </p:txBody>
      </p:sp>
      <p:sp>
        <p:nvSpPr>
          <p:cNvPr id="3" name="Text 1"/>
          <p:cNvSpPr/>
          <p:nvPr/>
        </p:nvSpPr>
        <p:spPr>
          <a:xfrm>
            <a:off x="457200" y="777240"/>
            <a:ext cx="7315200" cy="274320"/>
          </a:xfrm>
          <a:prstGeom prst="rect">
            <a:avLst/>
          </a:prstGeom>
          <a:noFill/>
          <a:ln/>
        </p:spPr>
        <p:txBody>
          <a:bodyPr wrap="square" lIns="0" tIns="0" rIns="0" bIns="0" rtlCol="0" anchor="ctr"/>
          <a:lstStyle/>
          <a:p>
            <a:pPr indent="0" marL="0">
              <a:buNone/>
            </a:pPr>
            <a:r>
              <a:rPr lang="en-US" sz="1300" i="1" dirty="0">
                <a:solidFill>
                  <a:srgbClr val="00B4D8"/>
                </a:solidFill>
                <a:latin typeface="Calibri" pitchFamily="34" charset="0"/>
                <a:ea typeface="Calibri" pitchFamily="34" charset="-122"/>
                <a:cs typeface="Calibri" pitchFamily="34" charset="-120"/>
              </a:rPr>
              <a:t>Code that executes automatically when conditions are met</a:t>
            </a:r>
            <a:endParaRPr lang="en-US" sz="1300" dirty="0"/>
          </a:p>
        </p:txBody>
      </p:sp>
      <p:sp>
        <p:nvSpPr>
          <p:cNvPr id="4" name="Shape 2"/>
          <p:cNvSpPr/>
          <p:nvPr/>
        </p:nvSpPr>
        <p:spPr>
          <a:xfrm>
            <a:off x="365760" y="1188720"/>
            <a:ext cx="3931920" cy="3749040"/>
          </a:xfrm>
          <a:prstGeom prst="roundRect">
            <a:avLst>
              <a:gd name="adj" fmla="val 2927"/>
            </a:avLst>
          </a:prstGeom>
          <a:solidFill>
            <a:srgbClr val="1E3A5F"/>
          </a:solidFill>
          <a:ln w="12700">
            <a:solidFill>
              <a:srgbClr val="00B4D8"/>
            </a:solidFill>
            <a:prstDash val="solid"/>
          </a:ln>
        </p:spPr>
      </p:sp>
      <p:sp>
        <p:nvSpPr>
          <p:cNvPr id="5" name="Text 3"/>
          <p:cNvSpPr/>
          <p:nvPr/>
        </p:nvSpPr>
        <p:spPr>
          <a:xfrm>
            <a:off x="502920" y="1325880"/>
            <a:ext cx="3657600" cy="384048"/>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Think of it like a Vending Machine</a:t>
            </a:r>
            <a:endParaRPr lang="en-US" sz="1300" dirty="0"/>
          </a:p>
        </p:txBody>
      </p:sp>
      <p:sp>
        <p:nvSpPr>
          <p:cNvPr id="6" name="Text 4"/>
          <p:cNvSpPr/>
          <p:nvPr/>
        </p:nvSpPr>
        <p:spPr>
          <a:xfrm>
            <a:off x="502920" y="1737360"/>
            <a:ext cx="3657600" cy="30175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Insert money</a:t>
            </a:r>
            <a:endParaRPr lang="en-US" sz="1200" dirty="0"/>
          </a:p>
          <a:p>
            <a:pPr indent="0" marL="0">
              <a:buNone/>
            </a:pPr>
            <a:r>
              <a:rPr lang="en-US" sz="1200" dirty="0">
                <a:solidFill>
                  <a:srgbClr val="90A4AE"/>
                </a:solidFill>
                <a:latin typeface="Calibri" pitchFamily="34" charset="0"/>
                <a:ea typeface="Calibri" pitchFamily="34" charset="-122"/>
                <a:cs typeface="Calibri" pitchFamily="34" charset="-120"/>
              </a:rPr>
              <a:t>→ Machine checks condition
</a:t>
            </a:r>
            <a:pPr indent="0" marL="0">
              <a:buNone/>
            </a:pPr>
            <a:r>
              <a:rPr lang="en-US" sz="1200" b="1" dirty="0">
                <a:solidFill>
                  <a:srgbClr val="FFFFFF"/>
                </a:solidFill>
                <a:latin typeface="Calibri" pitchFamily="34" charset="0"/>
                <a:ea typeface="Calibri" pitchFamily="34" charset="-122"/>
                <a:cs typeface="Calibri" pitchFamily="34" charset="-120"/>
              </a:rPr>
              <a:t>Select item</a:t>
            </a:r>
            <a:endParaRPr lang="en-US" sz="1200" dirty="0"/>
          </a:p>
          <a:p>
            <a:pPr indent="0" marL="0">
              <a:buNone/>
            </a:pPr>
            <a:r>
              <a:rPr lang="en-US" sz="1200" dirty="0">
                <a:solidFill>
                  <a:srgbClr val="90A4AE"/>
                </a:solidFill>
                <a:latin typeface="Calibri" pitchFamily="34" charset="0"/>
                <a:ea typeface="Calibri" pitchFamily="34" charset="-122"/>
                <a:cs typeface="Calibri" pitchFamily="34" charset="-120"/>
              </a:rPr>
              <a:t>→ Verifies stock &amp; amount
</a:t>
            </a:r>
            <a:pPr indent="0" marL="0">
              <a:buNone/>
            </a:pPr>
            <a:r>
              <a:rPr lang="en-US" sz="1200" b="1" dirty="0">
                <a:solidFill>
                  <a:srgbClr val="FFFFFF"/>
                </a:solidFill>
                <a:latin typeface="Calibri" pitchFamily="34" charset="0"/>
                <a:ea typeface="Calibri" pitchFamily="34" charset="-122"/>
                <a:cs typeface="Calibri" pitchFamily="34" charset="-120"/>
              </a:rPr>
              <a:t>Transaction completes</a:t>
            </a:r>
            <a:endParaRPr lang="en-US" sz="1200" dirty="0"/>
          </a:p>
          <a:p>
            <a:pPr indent="0" marL="0">
              <a:buNone/>
            </a:pPr>
            <a:r>
              <a:rPr lang="en-US" sz="1200" dirty="0">
                <a:solidFill>
                  <a:srgbClr val="90A4AE"/>
                </a:solidFill>
                <a:latin typeface="Calibri" pitchFamily="34" charset="0"/>
                <a:ea typeface="Calibri" pitchFamily="34" charset="-122"/>
                <a:cs typeface="Calibri" pitchFamily="34" charset="-120"/>
              </a:rPr>
              <a:t>→ Item dispensed automatically
</a:t>
            </a:r>
            <a:pPr indent="0" marL="0">
              <a:buNone/>
            </a:pPr>
            <a:r>
              <a:rPr lang="en-US" sz="1200" i="1" dirty="0">
                <a:solidFill>
                  <a:srgbClr val="00B4D8"/>
                </a:solidFill>
                <a:latin typeface="Calibri" pitchFamily="34" charset="0"/>
                <a:ea typeface="Calibri" pitchFamily="34" charset="-122"/>
                <a:cs typeface="Calibri" pitchFamily="34" charset="-120"/>
              </a:rPr>
              <a:t>No cashier. No trust needed. Just rules.</a:t>
            </a:r>
            <a:endParaRPr lang="en-US" sz="1200" dirty="0"/>
          </a:p>
        </p:txBody>
      </p:sp>
      <p:sp>
        <p:nvSpPr>
          <p:cNvPr id="7" name="Shape 5"/>
          <p:cNvSpPr/>
          <p:nvPr/>
        </p:nvSpPr>
        <p:spPr>
          <a:xfrm>
            <a:off x="4572000" y="1188720"/>
            <a:ext cx="4297680" cy="841248"/>
          </a:xfrm>
          <a:prstGeom prst="roundRect">
            <a:avLst>
              <a:gd name="adj" fmla="val 8696"/>
            </a:avLst>
          </a:prstGeom>
          <a:solidFill>
            <a:srgbClr val="0A2540"/>
          </a:solidFill>
          <a:ln w="12700">
            <a:solidFill>
              <a:srgbClr val="0077B6"/>
            </a:solidFill>
            <a:prstDash val="solid"/>
          </a:ln>
        </p:spPr>
      </p:sp>
      <p:sp>
        <p:nvSpPr>
          <p:cNvPr id="8" name="Text 6"/>
          <p:cNvSpPr/>
          <p:nvPr/>
        </p:nvSpPr>
        <p:spPr>
          <a:xfrm>
            <a:off x="4709160" y="1261872"/>
            <a:ext cx="402336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 Insurance Payout</a:t>
            </a:r>
            <a:endParaRPr lang="en-US" sz="1200" dirty="0"/>
          </a:p>
        </p:txBody>
      </p:sp>
      <p:sp>
        <p:nvSpPr>
          <p:cNvPr id="9" name="Text 7"/>
          <p:cNvSpPr/>
          <p:nvPr/>
        </p:nvSpPr>
        <p:spPr>
          <a:xfrm>
            <a:off x="4709160" y="1536192"/>
            <a:ext cx="4023360" cy="438912"/>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Flight delayed? Smart contract auto-pays claim in minutes, no paperwork.</a:t>
            </a:r>
            <a:endParaRPr lang="en-US" sz="1050" dirty="0"/>
          </a:p>
        </p:txBody>
      </p:sp>
      <p:sp>
        <p:nvSpPr>
          <p:cNvPr id="10" name="Shape 8"/>
          <p:cNvSpPr/>
          <p:nvPr/>
        </p:nvSpPr>
        <p:spPr>
          <a:xfrm>
            <a:off x="4572000" y="2139696"/>
            <a:ext cx="4297680" cy="841248"/>
          </a:xfrm>
          <a:prstGeom prst="roundRect">
            <a:avLst>
              <a:gd name="adj" fmla="val 8696"/>
            </a:avLst>
          </a:prstGeom>
          <a:solidFill>
            <a:srgbClr val="0A2540"/>
          </a:solidFill>
          <a:ln w="12700">
            <a:solidFill>
              <a:srgbClr val="0077B6"/>
            </a:solidFill>
            <a:prstDash val="solid"/>
          </a:ln>
        </p:spPr>
      </p:sp>
      <p:sp>
        <p:nvSpPr>
          <p:cNvPr id="11" name="Text 9"/>
          <p:cNvSpPr/>
          <p:nvPr/>
        </p:nvSpPr>
        <p:spPr>
          <a:xfrm>
            <a:off x="4709160" y="2212848"/>
            <a:ext cx="402336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 Property Transfer</a:t>
            </a:r>
            <a:endParaRPr lang="en-US" sz="1200" dirty="0"/>
          </a:p>
        </p:txBody>
      </p:sp>
      <p:sp>
        <p:nvSpPr>
          <p:cNvPr id="12" name="Text 10"/>
          <p:cNvSpPr/>
          <p:nvPr/>
        </p:nvSpPr>
        <p:spPr>
          <a:xfrm>
            <a:off x="4709160" y="2487168"/>
            <a:ext cx="4023360" cy="438912"/>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Payment received → title deed transferred instantly, no lawyer needed.</a:t>
            </a:r>
            <a:endParaRPr lang="en-US" sz="1050" dirty="0"/>
          </a:p>
        </p:txBody>
      </p:sp>
      <p:sp>
        <p:nvSpPr>
          <p:cNvPr id="13" name="Shape 11"/>
          <p:cNvSpPr/>
          <p:nvPr/>
        </p:nvSpPr>
        <p:spPr>
          <a:xfrm>
            <a:off x="4572000" y="3090672"/>
            <a:ext cx="4297680" cy="841248"/>
          </a:xfrm>
          <a:prstGeom prst="roundRect">
            <a:avLst>
              <a:gd name="adj" fmla="val 8696"/>
            </a:avLst>
          </a:prstGeom>
          <a:solidFill>
            <a:srgbClr val="0A2540"/>
          </a:solidFill>
          <a:ln w="12700">
            <a:solidFill>
              <a:srgbClr val="0077B6"/>
            </a:solidFill>
            <a:prstDash val="solid"/>
          </a:ln>
        </p:spPr>
      </p:sp>
      <p:sp>
        <p:nvSpPr>
          <p:cNvPr id="14" name="Text 12"/>
          <p:cNvSpPr/>
          <p:nvPr/>
        </p:nvSpPr>
        <p:spPr>
          <a:xfrm>
            <a:off x="4709160" y="3163824"/>
            <a:ext cx="402336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 Royalties</a:t>
            </a:r>
            <a:endParaRPr lang="en-US" sz="1200" dirty="0"/>
          </a:p>
        </p:txBody>
      </p:sp>
      <p:sp>
        <p:nvSpPr>
          <p:cNvPr id="15" name="Text 13"/>
          <p:cNvSpPr/>
          <p:nvPr/>
        </p:nvSpPr>
        <p:spPr>
          <a:xfrm>
            <a:off x="4709160" y="3438144"/>
            <a:ext cx="4023360" cy="438912"/>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Music streamed → artist gets paid automatically, every single play.</a:t>
            </a:r>
            <a:endParaRPr lang="en-US" sz="1050" dirty="0"/>
          </a:p>
        </p:txBody>
      </p:sp>
      <p:sp>
        <p:nvSpPr>
          <p:cNvPr id="16" name="Shape 14"/>
          <p:cNvSpPr/>
          <p:nvPr/>
        </p:nvSpPr>
        <p:spPr>
          <a:xfrm>
            <a:off x="4572000" y="4041648"/>
            <a:ext cx="4297680" cy="841248"/>
          </a:xfrm>
          <a:prstGeom prst="roundRect">
            <a:avLst>
              <a:gd name="adj" fmla="val 8696"/>
            </a:avLst>
          </a:prstGeom>
          <a:solidFill>
            <a:srgbClr val="0A2540"/>
          </a:solidFill>
          <a:ln w="12700">
            <a:solidFill>
              <a:srgbClr val="0077B6"/>
            </a:solidFill>
            <a:prstDash val="solid"/>
          </a:ln>
        </p:spPr>
      </p:sp>
      <p:sp>
        <p:nvSpPr>
          <p:cNvPr id="17" name="Text 15"/>
          <p:cNvSpPr/>
          <p:nvPr/>
        </p:nvSpPr>
        <p:spPr>
          <a:xfrm>
            <a:off x="4709160" y="4114800"/>
            <a:ext cx="4023360" cy="27432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 DeFi Lending</a:t>
            </a:r>
            <a:endParaRPr lang="en-US" sz="1200" dirty="0"/>
          </a:p>
        </p:txBody>
      </p:sp>
      <p:sp>
        <p:nvSpPr>
          <p:cNvPr id="18" name="Text 16"/>
          <p:cNvSpPr/>
          <p:nvPr/>
        </p:nvSpPr>
        <p:spPr>
          <a:xfrm>
            <a:off x="4709160" y="4389120"/>
            <a:ext cx="4023360" cy="438912"/>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Collateral locked → loan issued → repaid → collateral released, no bank.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91440"/>
            <a:ext cx="822960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Challenges &amp; Reality Check</a:t>
            </a:r>
            <a:endParaRPr lang="en-US" sz="2800" dirty="0"/>
          </a:p>
        </p:txBody>
      </p:sp>
      <p:sp>
        <p:nvSpPr>
          <p:cNvPr id="4" name="Text 2"/>
          <p:cNvSpPr/>
          <p:nvPr/>
        </p:nvSpPr>
        <p:spPr>
          <a:xfrm>
            <a:off x="365760" y="1051560"/>
            <a:ext cx="3931920" cy="365760"/>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Current Challenges</a:t>
            </a:r>
            <a:endParaRPr lang="en-US" sz="1500" dirty="0"/>
          </a:p>
        </p:txBody>
      </p:sp>
      <p:sp>
        <p:nvSpPr>
          <p:cNvPr id="5" name="Shape 3"/>
          <p:cNvSpPr/>
          <p:nvPr/>
        </p:nvSpPr>
        <p:spPr>
          <a:xfrm>
            <a:off x="365760" y="1508760"/>
            <a:ext cx="3931920" cy="749808"/>
          </a:xfrm>
          <a:prstGeom prst="roundRect">
            <a:avLst>
              <a:gd name="adj" fmla="val 9756"/>
            </a:avLst>
          </a:prstGeom>
          <a:solidFill>
            <a:srgbClr val="FFF3F0"/>
          </a:solidFill>
          <a:ln w="12700">
            <a:solidFill>
              <a:srgbClr val="FFBCB5"/>
            </a:solidFill>
            <a:prstDash val="solid"/>
          </a:ln>
        </p:spPr>
      </p:sp>
      <p:sp>
        <p:nvSpPr>
          <p:cNvPr id="6" name="Text 4"/>
          <p:cNvSpPr/>
          <p:nvPr/>
        </p:nvSpPr>
        <p:spPr>
          <a:xfrm>
            <a:off x="502920" y="1563624"/>
            <a:ext cx="36576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Scalability</a:t>
            </a:r>
            <a:endParaRPr lang="en-US" sz="1200" dirty="0"/>
          </a:p>
        </p:txBody>
      </p:sp>
      <p:sp>
        <p:nvSpPr>
          <p:cNvPr id="7" name="Text 5"/>
          <p:cNvSpPr/>
          <p:nvPr/>
        </p:nvSpPr>
        <p:spPr>
          <a:xfrm>
            <a:off x="502920" y="1837944"/>
            <a:ext cx="365760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Bitcoin handles ~7 tx/sec vs Visa's 24,000 tx/sec</a:t>
            </a:r>
            <a:endParaRPr lang="en-US" sz="1050" dirty="0"/>
          </a:p>
        </p:txBody>
      </p:sp>
      <p:sp>
        <p:nvSpPr>
          <p:cNvPr id="8" name="Shape 6"/>
          <p:cNvSpPr/>
          <p:nvPr/>
        </p:nvSpPr>
        <p:spPr>
          <a:xfrm>
            <a:off x="365760" y="2377440"/>
            <a:ext cx="3931920" cy="749808"/>
          </a:xfrm>
          <a:prstGeom prst="roundRect">
            <a:avLst>
              <a:gd name="adj" fmla="val 9756"/>
            </a:avLst>
          </a:prstGeom>
          <a:solidFill>
            <a:srgbClr val="FFF3F0"/>
          </a:solidFill>
          <a:ln w="12700">
            <a:solidFill>
              <a:srgbClr val="FFBCB5"/>
            </a:solidFill>
            <a:prstDash val="solid"/>
          </a:ln>
        </p:spPr>
      </p:sp>
      <p:sp>
        <p:nvSpPr>
          <p:cNvPr id="9" name="Text 7"/>
          <p:cNvSpPr/>
          <p:nvPr/>
        </p:nvSpPr>
        <p:spPr>
          <a:xfrm>
            <a:off x="502920" y="2432304"/>
            <a:ext cx="36576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Energy Use</a:t>
            </a:r>
            <a:endParaRPr lang="en-US" sz="1200" dirty="0"/>
          </a:p>
        </p:txBody>
      </p:sp>
      <p:sp>
        <p:nvSpPr>
          <p:cNvPr id="10" name="Text 8"/>
          <p:cNvSpPr/>
          <p:nvPr/>
        </p:nvSpPr>
        <p:spPr>
          <a:xfrm>
            <a:off x="502920" y="2706624"/>
            <a:ext cx="365760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Proof-of-Work mining uses significant electricity (Ethereum fixed this with PoS in 2022)</a:t>
            </a:r>
            <a:endParaRPr lang="en-US" sz="1050" dirty="0"/>
          </a:p>
        </p:txBody>
      </p:sp>
      <p:sp>
        <p:nvSpPr>
          <p:cNvPr id="11" name="Shape 9"/>
          <p:cNvSpPr/>
          <p:nvPr/>
        </p:nvSpPr>
        <p:spPr>
          <a:xfrm>
            <a:off x="365760" y="3246120"/>
            <a:ext cx="3931920" cy="749808"/>
          </a:xfrm>
          <a:prstGeom prst="roundRect">
            <a:avLst>
              <a:gd name="adj" fmla="val 9756"/>
            </a:avLst>
          </a:prstGeom>
          <a:solidFill>
            <a:srgbClr val="FFF3F0"/>
          </a:solidFill>
          <a:ln w="12700">
            <a:solidFill>
              <a:srgbClr val="FFBCB5"/>
            </a:solidFill>
            <a:prstDash val="solid"/>
          </a:ln>
        </p:spPr>
      </p:sp>
      <p:sp>
        <p:nvSpPr>
          <p:cNvPr id="12" name="Text 10"/>
          <p:cNvSpPr/>
          <p:nvPr/>
        </p:nvSpPr>
        <p:spPr>
          <a:xfrm>
            <a:off x="502920" y="3300984"/>
            <a:ext cx="36576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UX Complexity</a:t>
            </a:r>
            <a:endParaRPr lang="en-US" sz="1200" dirty="0"/>
          </a:p>
        </p:txBody>
      </p:sp>
      <p:sp>
        <p:nvSpPr>
          <p:cNvPr id="13" name="Text 11"/>
          <p:cNvSpPr/>
          <p:nvPr/>
        </p:nvSpPr>
        <p:spPr>
          <a:xfrm>
            <a:off x="502920" y="3575304"/>
            <a:ext cx="365760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Wallets, seed phrases, gas fees — too complex for mainstream users yet</a:t>
            </a:r>
            <a:endParaRPr lang="en-US" sz="1050" dirty="0"/>
          </a:p>
        </p:txBody>
      </p:sp>
      <p:sp>
        <p:nvSpPr>
          <p:cNvPr id="14" name="Shape 12"/>
          <p:cNvSpPr/>
          <p:nvPr/>
        </p:nvSpPr>
        <p:spPr>
          <a:xfrm>
            <a:off x="365760" y="4114800"/>
            <a:ext cx="3931920" cy="749808"/>
          </a:xfrm>
          <a:prstGeom prst="roundRect">
            <a:avLst>
              <a:gd name="adj" fmla="val 9756"/>
            </a:avLst>
          </a:prstGeom>
          <a:solidFill>
            <a:srgbClr val="FFF3F0"/>
          </a:solidFill>
          <a:ln w="12700">
            <a:solidFill>
              <a:srgbClr val="FFBCB5"/>
            </a:solidFill>
            <a:prstDash val="solid"/>
          </a:ln>
        </p:spPr>
      </p:sp>
      <p:sp>
        <p:nvSpPr>
          <p:cNvPr id="15" name="Text 13"/>
          <p:cNvSpPr/>
          <p:nvPr/>
        </p:nvSpPr>
        <p:spPr>
          <a:xfrm>
            <a:off x="502920" y="4169664"/>
            <a:ext cx="365760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Regulation</a:t>
            </a:r>
            <a:endParaRPr lang="en-US" sz="1200" dirty="0"/>
          </a:p>
        </p:txBody>
      </p:sp>
      <p:sp>
        <p:nvSpPr>
          <p:cNvPr id="16" name="Text 14"/>
          <p:cNvSpPr/>
          <p:nvPr/>
        </p:nvSpPr>
        <p:spPr>
          <a:xfrm>
            <a:off x="502920" y="4443984"/>
            <a:ext cx="365760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Legal frameworks are evolving; different rules in different countries</a:t>
            </a:r>
            <a:endParaRPr lang="en-US" sz="1050" dirty="0"/>
          </a:p>
        </p:txBody>
      </p:sp>
      <p:sp>
        <p:nvSpPr>
          <p:cNvPr id="17" name="Text 15"/>
          <p:cNvSpPr/>
          <p:nvPr/>
        </p:nvSpPr>
        <p:spPr>
          <a:xfrm>
            <a:off x="4663440" y="1051560"/>
            <a:ext cx="4114800" cy="365760"/>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What's Being Solved</a:t>
            </a:r>
            <a:endParaRPr lang="en-US" sz="1500" dirty="0"/>
          </a:p>
        </p:txBody>
      </p:sp>
      <p:sp>
        <p:nvSpPr>
          <p:cNvPr id="18" name="Shape 16"/>
          <p:cNvSpPr/>
          <p:nvPr/>
        </p:nvSpPr>
        <p:spPr>
          <a:xfrm>
            <a:off x="4663440" y="1508760"/>
            <a:ext cx="4114800" cy="749808"/>
          </a:xfrm>
          <a:prstGeom prst="roundRect">
            <a:avLst>
              <a:gd name="adj" fmla="val 9756"/>
            </a:avLst>
          </a:prstGeom>
          <a:solidFill>
            <a:srgbClr val="F0FFF4"/>
          </a:solidFill>
          <a:ln w="12700">
            <a:solidFill>
              <a:srgbClr val="9AE6B4"/>
            </a:solidFill>
            <a:prstDash val="solid"/>
          </a:ln>
        </p:spPr>
      </p:sp>
      <p:sp>
        <p:nvSpPr>
          <p:cNvPr id="19" name="Text 17"/>
          <p:cNvSpPr/>
          <p:nvPr/>
        </p:nvSpPr>
        <p:spPr>
          <a:xfrm>
            <a:off x="4800600" y="1563624"/>
            <a:ext cx="3840480" cy="256032"/>
          </a:xfrm>
          <a:prstGeom prst="rect">
            <a:avLst/>
          </a:prstGeom>
          <a:noFill/>
          <a:ln/>
        </p:spPr>
        <p:txBody>
          <a:bodyPr wrap="square" lIns="0" tIns="0" rIns="0" bIns="0" rtlCol="0" anchor="ctr"/>
          <a:lstStyle/>
          <a:p>
            <a:pPr indent="0" marL="0">
              <a:buNone/>
            </a:pPr>
            <a:r>
              <a:rPr lang="en-US" sz="1200" b="1" dirty="0">
                <a:solidFill>
                  <a:srgbClr val="276749"/>
                </a:solidFill>
                <a:latin typeface="Calibri" pitchFamily="34" charset="0"/>
                <a:ea typeface="Calibri" pitchFamily="34" charset="-122"/>
                <a:cs typeface="Calibri" pitchFamily="34" charset="-120"/>
              </a:rPr>
              <a:t>✅ Layer 2 Networks</a:t>
            </a:r>
            <a:endParaRPr lang="en-US" sz="1200" dirty="0"/>
          </a:p>
        </p:txBody>
      </p:sp>
      <p:sp>
        <p:nvSpPr>
          <p:cNvPr id="20" name="Text 18"/>
          <p:cNvSpPr/>
          <p:nvPr/>
        </p:nvSpPr>
        <p:spPr>
          <a:xfrm>
            <a:off x="4800600" y="1837944"/>
            <a:ext cx="384048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Polygon, Arbitrum process 40,000+ tx/sec at near-zero cost</a:t>
            </a:r>
            <a:endParaRPr lang="en-US" sz="1050" dirty="0"/>
          </a:p>
        </p:txBody>
      </p:sp>
      <p:sp>
        <p:nvSpPr>
          <p:cNvPr id="21" name="Shape 19"/>
          <p:cNvSpPr/>
          <p:nvPr/>
        </p:nvSpPr>
        <p:spPr>
          <a:xfrm>
            <a:off x="4663440" y="2377440"/>
            <a:ext cx="4114800" cy="749808"/>
          </a:xfrm>
          <a:prstGeom prst="roundRect">
            <a:avLst>
              <a:gd name="adj" fmla="val 9756"/>
            </a:avLst>
          </a:prstGeom>
          <a:solidFill>
            <a:srgbClr val="F0FFF4"/>
          </a:solidFill>
          <a:ln w="12700">
            <a:solidFill>
              <a:srgbClr val="9AE6B4"/>
            </a:solidFill>
            <a:prstDash val="solid"/>
          </a:ln>
        </p:spPr>
      </p:sp>
      <p:sp>
        <p:nvSpPr>
          <p:cNvPr id="22" name="Text 20"/>
          <p:cNvSpPr/>
          <p:nvPr/>
        </p:nvSpPr>
        <p:spPr>
          <a:xfrm>
            <a:off x="4800600" y="2432304"/>
            <a:ext cx="3840480" cy="256032"/>
          </a:xfrm>
          <a:prstGeom prst="rect">
            <a:avLst/>
          </a:prstGeom>
          <a:noFill/>
          <a:ln/>
        </p:spPr>
        <p:txBody>
          <a:bodyPr wrap="square" lIns="0" tIns="0" rIns="0" bIns="0" rtlCol="0" anchor="ctr"/>
          <a:lstStyle/>
          <a:p>
            <a:pPr indent="0" marL="0">
              <a:buNone/>
            </a:pPr>
            <a:r>
              <a:rPr lang="en-US" sz="1200" b="1" dirty="0">
                <a:solidFill>
                  <a:srgbClr val="276749"/>
                </a:solidFill>
                <a:latin typeface="Calibri" pitchFamily="34" charset="0"/>
                <a:ea typeface="Calibri" pitchFamily="34" charset="-122"/>
                <a:cs typeface="Calibri" pitchFamily="34" charset="-120"/>
              </a:rPr>
              <a:t>✅ Proof of Stake</a:t>
            </a:r>
            <a:endParaRPr lang="en-US" sz="1200" dirty="0"/>
          </a:p>
        </p:txBody>
      </p:sp>
      <p:sp>
        <p:nvSpPr>
          <p:cNvPr id="23" name="Text 21"/>
          <p:cNvSpPr/>
          <p:nvPr/>
        </p:nvSpPr>
        <p:spPr>
          <a:xfrm>
            <a:off x="4800600" y="2706624"/>
            <a:ext cx="384048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Ethereum's PoS cut energy usage by 99.95%</a:t>
            </a:r>
            <a:endParaRPr lang="en-US" sz="1050" dirty="0"/>
          </a:p>
        </p:txBody>
      </p:sp>
      <p:sp>
        <p:nvSpPr>
          <p:cNvPr id="24" name="Shape 22"/>
          <p:cNvSpPr/>
          <p:nvPr/>
        </p:nvSpPr>
        <p:spPr>
          <a:xfrm>
            <a:off x="4663440" y="3246120"/>
            <a:ext cx="4114800" cy="749808"/>
          </a:xfrm>
          <a:prstGeom prst="roundRect">
            <a:avLst>
              <a:gd name="adj" fmla="val 9756"/>
            </a:avLst>
          </a:prstGeom>
          <a:solidFill>
            <a:srgbClr val="F0FFF4"/>
          </a:solidFill>
          <a:ln w="12700">
            <a:solidFill>
              <a:srgbClr val="9AE6B4"/>
            </a:solidFill>
            <a:prstDash val="solid"/>
          </a:ln>
        </p:spPr>
      </p:sp>
      <p:sp>
        <p:nvSpPr>
          <p:cNvPr id="25" name="Text 23"/>
          <p:cNvSpPr/>
          <p:nvPr/>
        </p:nvSpPr>
        <p:spPr>
          <a:xfrm>
            <a:off x="4800600" y="3300984"/>
            <a:ext cx="3840480" cy="256032"/>
          </a:xfrm>
          <a:prstGeom prst="rect">
            <a:avLst/>
          </a:prstGeom>
          <a:noFill/>
          <a:ln/>
        </p:spPr>
        <p:txBody>
          <a:bodyPr wrap="square" lIns="0" tIns="0" rIns="0" bIns="0" rtlCol="0" anchor="ctr"/>
          <a:lstStyle/>
          <a:p>
            <a:pPr indent="0" marL="0">
              <a:buNone/>
            </a:pPr>
            <a:r>
              <a:rPr lang="en-US" sz="1200" b="1" dirty="0">
                <a:solidFill>
                  <a:srgbClr val="276749"/>
                </a:solidFill>
                <a:latin typeface="Calibri" pitchFamily="34" charset="0"/>
                <a:ea typeface="Calibri" pitchFamily="34" charset="-122"/>
                <a:cs typeface="Calibri" pitchFamily="34" charset="-120"/>
              </a:rPr>
              <a:t>✅ Account Abstraction</a:t>
            </a:r>
            <a:endParaRPr lang="en-US" sz="1200" dirty="0"/>
          </a:p>
        </p:txBody>
      </p:sp>
      <p:sp>
        <p:nvSpPr>
          <p:cNvPr id="26" name="Text 24"/>
          <p:cNvSpPr/>
          <p:nvPr/>
        </p:nvSpPr>
        <p:spPr>
          <a:xfrm>
            <a:off x="4800600" y="3575304"/>
            <a:ext cx="384048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New wallets remove seed phrases; social recovery available</a:t>
            </a:r>
            <a:endParaRPr lang="en-US" sz="1050" dirty="0"/>
          </a:p>
        </p:txBody>
      </p:sp>
      <p:sp>
        <p:nvSpPr>
          <p:cNvPr id="27" name="Shape 25"/>
          <p:cNvSpPr/>
          <p:nvPr/>
        </p:nvSpPr>
        <p:spPr>
          <a:xfrm>
            <a:off x="4663440" y="4114800"/>
            <a:ext cx="4114800" cy="749808"/>
          </a:xfrm>
          <a:prstGeom prst="roundRect">
            <a:avLst>
              <a:gd name="adj" fmla="val 9756"/>
            </a:avLst>
          </a:prstGeom>
          <a:solidFill>
            <a:srgbClr val="F0FFF4"/>
          </a:solidFill>
          <a:ln w="12700">
            <a:solidFill>
              <a:srgbClr val="9AE6B4"/>
            </a:solidFill>
            <a:prstDash val="solid"/>
          </a:ln>
        </p:spPr>
      </p:sp>
      <p:sp>
        <p:nvSpPr>
          <p:cNvPr id="28" name="Text 26"/>
          <p:cNvSpPr/>
          <p:nvPr/>
        </p:nvSpPr>
        <p:spPr>
          <a:xfrm>
            <a:off x="4800600" y="4169664"/>
            <a:ext cx="3840480" cy="256032"/>
          </a:xfrm>
          <a:prstGeom prst="rect">
            <a:avLst/>
          </a:prstGeom>
          <a:noFill/>
          <a:ln/>
        </p:spPr>
        <p:txBody>
          <a:bodyPr wrap="square" lIns="0" tIns="0" rIns="0" bIns="0" rtlCol="0" anchor="ctr"/>
          <a:lstStyle/>
          <a:p>
            <a:pPr indent="0" marL="0">
              <a:buNone/>
            </a:pPr>
            <a:r>
              <a:rPr lang="en-US" sz="1200" b="1" dirty="0">
                <a:solidFill>
                  <a:srgbClr val="276749"/>
                </a:solidFill>
                <a:latin typeface="Calibri" pitchFamily="34" charset="0"/>
                <a:ea typeface="Calibri" pitchFamily="34" charset="-122"/>
                <a:cs typeface="Calibri" pitchFamily="34" charset="-120"/>
              </a:rPr>
              <a:t>✅ Global Standards</a:t>
            </a:r>
            <a:endParaRPr lang="en-US" sz="1200" dirty="0"/>
          </a:p>
        </p:txBody>
      </p:sp>
      <p:sp>
        <p:nvSpPr>
          <p:cNvPr id="29" name="Text 27"/>
          <p:cNvSpPr/>
          <p:nvPr/>
        </p:nvSpPr>
        <p:spPr>
          <a:xfrm>
            <a:off x="4800600" y="4443984"/>
            <a:ext cx="3840480" cy="347472"/>
          </a:xfrm>
          <a:prstGeom prst="rect">
            <a:avLst/>
          </a:prstGeom>
          <a:noFill/>
          <a:ln/>
        </p:spPr>
        <p:txBody>
          <a:bodyPr wrap="square" lIns="0" tIns="0" rIns="0" bIns="0" rtlCol="0" anchor="ctr"/>
          <a:lstStyle/>
          <a:p>
            <a:pPr indent="0" marL="0">
              <a:buNone/>
            </a:pPr>
            <a:r>
              <a:rPr lang="en-US" sz="1050" dirty="0">
                <a:solidFill>
                  <a:srgbClr val="4A4A4A"/>
                </a:solidFill>
                <a:latin typeface="Calibri" pitchFamily="34" charset="0"/>
                <a:ea typeface="Calibri" pitchFamily="34" charset="-122"/>
                <a:cs typeface="Calibri" pitchFamily="34" charset="-120"/>
              </a:rPr>
              <a:t>EU's MiCA regulation launched 2024; US frameworks emerging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Means for You</a:t>
            </a:r>
            <a:endParaRPr lang="en-US" sz="2800" dirty="0"/>
          </a:p>
        </p:txBody>
      </p:sp>
      <p:sp>
        <p:nvSpPr>
          <p:cNvPr id="3" name="Text 1"/>
          <p:cNvSpPr/>
          <p:nvPr/>
        </p:nvSpPr>
        <p:spPr>
          <a:xfrm>
            <a:off x="457200" y="777240"/>
            <a:ext cx="7315200" cy="274320"/>
          </a:xfrm>
          <a:prstGeom prst="rect">
            <a:avLst/>
          </a:prstGeom>
          <a:noFill/>
          <a:ln/>
        </p:spPr>
        <p:txBody>
          <a:bodyPr wrap="square" lIns="0" tIns="0" rIns="0" bIns="0" rtlCol="0" anchor="ctr"/>
          <a:lstStyle/>
          <a:p>
            <a:pPr indent="0" marL="0">
              <a:buNone/>
            </a:pPr>
            <a:r>
              <a:rPr lang="en-US" sz="1300" i="1" dirty="0">
                <a:solidFill>
                  <a:srgbClr val="00B4D8"/>
                </a:solidFill>
                <a:latin typeface="Calibri" pitchFamily="34" charset="0"/>
                <a:ea typeface="Calibri" pitchFamily="34" charset="-122"/>
                <a:cs typeface="Calibri" pitchFamily="34" charset="-120"/>
              </a:rPr>
              <a:t>Action steps for working professionals</a:t>
            </a:r>
            <a:endParaRPr lang="en-US" sz="1300" dirty="0"/>
          </a:p>
        </p:txBody>
      </p:sp>
      <p:sp>
        <p:nvSpPr>
          <p:cNvPr id="4" name="Shape 2"/>
          <p:cNvSpPr/>
          <p:nvPr/>
        </p:nvSpPr>
        <p:spPr>
          <a:xfrm>
            <a:off x="365760" y="1188720"/>
            <a:ext cx="8412480" cy="841248"/>
          </a:xfrm>
          <a:prstGeom prst="roundRect">
            <a:avLst>
              <a:gd name="adj" fmla="val 10870"/>
            </a:avLst>
          </a:prstGeom>
          <a:solidFill>
            <a:srgbClr val="1E3A5F"/>
          </a:solidFill>
          <a:ln w="25400">
            <a:solidFill>
              <a:srgbClr val="00B4D8"/>
            </a:solidFill>
            <a:prstDash val="solid"/>
          </a:ln>
        </p:spPr>
      </p:sp>
      <p:sp>
        <p:nvSpPr>
          <p:cNvPr id="5" name="Shape 3"/>
          <p:cNvSpPr/>
          <p:nvPr/>
        </p:nvSpPr>
        <p:spPr>
          <a:xfrm>
            <a:off x="502920" y="1353312"/>
            <a:ext cx="502920" cy="502920"/>
          </a:xfrm>
          <a:prstGeom prst="ellipse">
            <a:avLst/>
          </a:prstGeom>
          <a:solidFill>
            <a:srgbClr val="00B4D8"/>
          </a:solidFill>
          <a:ln w="12700">
            <a:solidFill>
              <a:srgbClr val="00B4D8"/>
            </a:solidFill>
            <a:prstDash val="solid"/>
          </a:ln>
        </p:spPr>
      </p:sp>
      <p:sp>
        <p:nvSpPr>
          <p:cNvPr id="6" name="Text 4"/>
          <p:cNvSpPr/>
          <p:nvPr/>
        </p:nvSpPr>
        <p:spPr>
          <a:xfrm>
            <a:off x="502920" y="1353312"/>
            <a:ext cx="502920" cy="502920"/>
          </a:xfrm>
          <a:prstGeom prst="rect">
            <a:avLst/>
          </a:prstGeom>
          <a:noFill/>
          <a:ln/>
        </p:spPr>
        <p:txBody>
          <a:bodyPr wrap="square" lIns="0" tIns="0" rIns="0" bIns="0" rtlCol="0" anchor="ctr"/>
          <a:lstStyle/>
          <a:p>
            <a:pPr algn="ctr" indent="0" marL="0">
              <a:buNone/>
            </a:pPr>
            <a:r>
              <a:rPr lang="en-US" sz="1100" b="1" dirty="0">
                <a:solidFill>
                  <a:srgbClr val="0D1B2A"/>
                </a:solidFill>
              </a:rPr>
              <a:t>01</a:t>
            </a:r>
            <a:endParaRPr lang="en-US" sz="1100" dirty="0"/>
          </a:p>
        </p:txBody>
      </p:sp>
      <p:sp>
        <p:nvSpPr>
          <p:cNvPr id="7" name="Text 5"/>
          <p:cNvSpPr/>
          <p:nvPr/>
        </p:nvSpPr>
        <p:spPr>
          <a:xfrm>
            <a:off x="1143000" y="1261872"/>
            <a:ext cx="5943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Understand Your Industry's Exposure</a:t>
            </a:r>
            <a:endParaRPr lang="en-US" sz="1300" dirty="0"/>
          </a:p>
        </p:txBody>
      </p:sp>
      <p:sp>
        <p:nvSpPr>
          <p:cNvPr id="8" name="Text 6"/>
          <p:cNvSpPr/>
          <p:nvPr/>
        </p:nvSpPr>
        <p:spPr>
          <a:xfrm>
            <a:off x="1143000" y="1554480"/>
            <a:ext cx="5943600" cy="41148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Finance, logistics, healthcare, and legal are already being disrupted. Research blockchain pilots in your sector.</a:t>
            </a:r>
            <a:endParaRPr lang="en-US" sz="1050" dirty="0"/>
          </a:p>
        </p:txBody>
      </p:sp>
      <p:sp>
        <p:nvSpPr>
          <p:cNvPr id="9" name="Shape 7"/>
          <p:cNvSpPr/>
          <p:nvPr/>
        </p:nvSpPr>
        <p:spPr>
          <a:xfrm>
            <a:off x="7315200" y="1371600"/>
            <a:ext cx="1188720" cy="457200"/>
          </a:xfrm>
          <a:prstGeom prst="roundRect">
            <a:avLst>
              <a:gd name="adj" fmla="val 16000"/>
            </a:avLst>
          </a:prstGeom>
          <a:solidFill>
            <a:srgbClr val="0A2540"/>
          </a:solidFill>
          <a:ln w="12700">
            <a:solidFill>
              <a:srgbClr val="00B4D8"/>
            </a:solidFill>
            <a:prstDash val="solid"/>
          </a:ln>
        </p:spPr>
      </p:sp>
      <p:sp>
        <p:nvSpPr>
          <p:cNvPr id="10" name="Text 8"/>
          <p:cNvSpPr/>
          <p:nvPr/>
        </p:nvSpPr>
        <p:spPr>
          <a:xfrm>
            <a:off x="7315200" y="1371600"/>
            <a:ext cx="1188720" cy="457200"/>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This Week</a:t>
            </a:r>
            <a:endParaRPr lang="en-US" sz="900" dirty="0"/>
          </a:p>
        </p:txBody>
      </p:sp>
      <p:sp>
        <p:nvSpPr>
          <p:cNvPr id="11" name="Shape 9"/>
          <p:cNvSpPr/>
          <p:nvPr/>
        </p:nvSpPr>
        <p:spPr>
          <a:xfrm>
            <a:off x="365760" y="2139696"/>
            <a:ext cx="8412480" cy="841248"/>
          </a:xfrm>
          <a:prstGeom prst="roundRect">
            <a:avLst>
              <a:gd name="adj" fmla="val 10870"/>
            </a:avLst>
          </a:prstGeom>
          <a:solidFill>
            <a:srgbClr val="1E3A5F"/>
          </a:solidFill>
          <a:ln w="12700">
            <a:solidFill>
              <a:srgbClr val="0077B6"/>
            </a:solidFill>
            <a:prstDash val="solid"/>
          </a:ln>
        </p:spPr>
      </p:sp>
      <p:sp>
        <p:nvSpPr>
          <p:cNvPr id="12" name="Shape 10"/>
          <p:cNvSpPr/>
          <p:nvPr/>
        </p:nvSpPr>
        <p:spPr>
          <a:xfrm>
            <a:off x="502920" y="2304288"/>
            <a:ext cx="502920" cy="502920"/>
          </a:xfrm>
          <a:prstGeom prst="ellipse">
            <a:avLst/>
          </a:prstGeom>
          <a:solidFill>
            <a:srgbClr val="00B4D8"/>
          </a:solidFill>
          <a:ln w="12700">
            <a:solidFill>
              <a:srgbClr val="00B4D8"/>
            </a:solidFill>
            <a:prstDash val="solid"/>
          </a:ln>
        </p:spPr>
      </p:sp>
      <p:sp>
        <p:nvSpPr>
          <p:cNvPr id="13" name="Text 11"/>
          <p:cNvSpPr/>
          <p:nvPr/>
        </p:nvSpPr>
        <p:spPr>
          <a:xfrm>
            <a:off x="502920" y="2304288"/>
            <a:ext cx="502920" cy="502920"/>
          </a:xfrm>
          <a:prstGeom prst="rect">
            <a:avLst/>
          </a:prstGeom>
          <a:noFill/>
          <a:ln/>
        </p:spPr>
        <p:txBody>
          <a:bodyPr wrap="square" lIns="0" tIns="0" rIns="0" bIns="0" rtlCol="0" anchor="ctr"/>
          <a:lstStyle/>
          <a:p>
            <a:pPr algn="ctr" indent="0" marL="0">
              <a:buNone/>
            </a:pPr>
            <a:r>
              <a:rPr lang="en-US" sz="1100" b="1" dirty="0">
                <a:solidFill>
                  <a:srgbClr val="0D1B2A"/>
                </a:solidFill>
              </a:rPr>
              <a:t>02</a:t>
            </a:r>
            <a:endParaRPr lang="en-US" sz="1100" dirty="0"/>
          </a:p>
        </p:txBody>
      </p:sp>
      <p:sp>
        <p:nvSpPr>
          <p:cNvPr id="14" name="Text 12"/>
          <p:cNvSpPr/>
          <p:nvPr/>
        </p:nvSpPr>
        <p:spPr>
          <a:xfrm>
            <a:off x="1143000" y="2212848"/>
            <a:ext cx="5943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Build Foundational Literacy</a:t>
            </a:r>
            <a:endParaRPr lang="en-US" sz="1300" dirty="0"/>
          </a:p>
        </p:txBody>
      </p:sp>
      <p:sp>
        <p:nvSpPr>
          <p:cNvPr id="15" name="Text 13"/>
          <p:cNvSpPr/>
          <p:nvPr/>
        </p:nvSpPr>
        <p:spPr>
          <a:xfrm>
            <a:off x="1143000" y="2505456"/>
            <a:ext cx="5943600" cy="41148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You don't need to code, but understanding wallets, smart contracts, and DeFi basics is becoming a professional advantage.</a:t>
            </a:r>
            <a:endParaRPr lang="en-US" sz="1050" dirty="0"/>
          </a:p>
        </p:txBody>
      </p:sp>
      <p:sp>
        <p:nvSpPr>
          <p:cNvPr id="16" name="Shape 14"/>
          <p:cNvSpPr/>
          <p:nvPr/>
        </p:nvSpPr>
        <p:spPr>
          <a:xfrm>
            <a:off x="7315200" y="2322576"/>
            <a:ext cx="1188720" cy="457200"/>
          </a:xfrm>
          <a:prstGeom prst="roundRect">
            <a:avLst>
              <a:gd name="adj" fmla="val 16000"/>
            </a:avLst>
          </a:prstGeom>
          <a:solidFill>
            <a:srgbClr val="0A2540"/>
          </a:solidFill>
          <a:ln w="12700">
            <a:solidFill>
              <a:srgbClr val="00B4D8"/>
            </a:solidFill>
            <a:prstDash val="solid"/>
          </a:ln>
        </p:spPr>
      </p:sp>
      <p:sp>
        <p:nvSpPr>
          <p:cNvPr id="17" name="Text 15"/>
          <p:cNvSpPr/>
          <p:nvPr/>
        </p:nvSpPr>
        <p:spPr>
          <a:xfrm>
            <a:off x="7315200" y="2322576"/>
            <a:ext cx="1188720" cy="457200"/>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This Month</a:t>
            </a:r>
            <a:endParaRPr lang="en-US" sz="900" dirty="0"/>
          </a:p>
        </p:txBody>
      </p:sp>
      <p:sp>
        <p:nvSpPr>
          <p:cNvPr id="18" name="Shape 16"/>
          <p:cNvSpPr/>
          <p:nvPr/>
        </p:nvSpPr>
        <p:spPr>
          <a:xfrm>
            <a:off x="365760" y="3090672"/>
            <a:ext cx="8412480" cy="841248"/>
          </a:xfrm>
          <a:prstGeom prst="roundRect">
            <a:avLst>
              <a:gd name="adj" fmla="val 10870"/>
            </a:avLst>
          </a:prstGeom>
          <a:solidFill>
            <a:srgbClr val="1E3A5F"/>
          </a:solidFill>
          <a:ln w="12700">
            <a:solidFill>
              <a:srgbClr val="0077B6"/>
            </a:solidFill>
            <a:prstDash val="solid"/>
          </a:ln>
        </p:spPr>
      </p:sp>
      <p:sp>
        <p:nvSpPr>
          <p:cNvPr id="19" name="Shape 17"/>
          <p:cNvSpPr/>
          <p:nvPr/>
        </p:nvSpPr>
        <p:spPr>
          <a:xfrm>
            <a:off x="502920" y="3255264"/>
            <a:ext cx="502920" cy="502920"/>
          </a:xfrm>
          <a:prstGeom prst="ellipse">
            <a:avLst/>
          </a:prstGeom>
          <a:solidFill>
            <a:srgbClr val="00B4D8"/>
          </a:solidFill>
          <a:ln w="12700">
            <a:solidFill>
              <a:srgbClr val="00B4D8"/>
            </a:solidFill>
            <a:prstDash val="solid"/>
          </a:ln>
        </p:spPr>
      </p:sp>
      <p:sp>
        <p:nvSpPr>
          <p:cNvPr id="20" name="Text 18"/>
          <p:cNvSpPr/>
          <p:nvPr/>
        </p:nvSpPr>
        <p:spPr>
          <a:xfrm>
            <a:off x="502920" y="3255264"/>
            <a:ext cx="502920" cy="502920"/>
          </a:xfrm>
          <a:prstGeom prst="rect">
            <a:avLst/>
          </a:prstGeom>
          <a:noFill/>
          <a:ln/>
        </p:spPr>
        <p:txBody>
          <a:bodyPr wrap="square" lIns="0" tIns="0" rIns="0" bIns="0" rtlCol="0" anchor="ctr"/>
          <a:lstStyle/>
          <a:p>
            <a:pPr algn="ctr" indent="0" marL="0">
              <a:buNone/>
            </a:pPr>
            <a:r>
              <a:rPr lang="en-US" sz="1100" b="1" dirty="0">
                <a:solidFill>
                  <a:srgbClr val="0D1B2A"/>
                </a:solidFill>
              </a:rPr>
              <a:t>03</a:t>
            </a:r>
            <a:endParaRPr lang="en-US" sz="1100" dirty="0"/>
          </a:p>
        </p:txBody>
      </p:sp>
      <p:sp>
        <p:nvSpPr>
          <p:cNvPr id="21" name="Text 19"/>
          <p:cNvSpPr/>
          <p:nvPr/>
        </p:nvSpPr>
        <p:spPr>
          <a:xfrm>
            <a:off x="1143000" y="3163824"/>
            <a:ext cx="5943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Explore Hands-On</a:t>
            </a:r>
            <a:endParaRPr lang="en-US" sz="1300" dirty="0"/>
          </a:p>
        </p:txBody>
      </p:sp>
      <p:sp>
        <p:nvSpPr>
          <p:cNvPr id="22" name="Text 20"/>
          <p:cNvSpPr/>
          <p:nvPr/>
        </p:nvSpPr>
        <p:spPr>
          <a:xfrm>
            <a:off x="1143000" y="3456432"/>
            <a:ext cx="5943600" cy="41148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Set up a MetaMask wallet, try a decentralized app (dApp), understand gas fees firsthand. Nothing beats experience.</a:t>
            </a:r>
            <a:endParaRPr lang="en-US" sz="1050" dirty="0"/>
          </a:p>
        </p:txBody>
      </p:sp>
      <p:sp>
        <p:nvSpPr>
          <p:cNvPr id="23" name="Shape 21"/>
          <p:cNvSpPr/>
          <p:nvPr/>
        </p:nvSpPr>
        <p:spPr>
          <a:xfrm>
            <a:off x="7315200" y="3273552"/>
            <a:ext cx="1188720" cy="457200"/>
          </a:xfrm>
          <a:prstGeom prst="roundRect">
            <a:avLst>
              <a:gd name="adj" fmla="val 16000"/>
            </a:avLst>
          </a:prstGeom>
          <a:solidFill>
            <a:srgbClr val="0A2540"/>
          </a:solidFill>
          <a:ln w="12700">
            <a:solidFill>
              <a:srgbClr val="00B4D8"/>
            </a:solidFill>
            <a:prstDash val="solid"/>
          </a:ln>
        </p:spPr>
      </p:sp>
      <p:sp>
        <p:nvSpPr>
          <p:cNvPr id="24" name="Text 22"/>
          <p:cNvSpPr/>
          <p:nvPr/>
        </p:nvSpPr>
        <p:spPr>
          <a:xfrm>
            <a:off x="7315200" y="3273552"/>
            <a:ext cx="1188720" cy="457200"/>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This Quarter</a:t>
            </a:r>
            <a:endParaRPr lang="en-US" sz="900" dirty="0"/>
          </a:p>
        </p:txBody>
      </p:sp>
      <p:sp>
        <p:nvSpPr>
          <p:cNvPr id="25" name="Shape 23"/>
          <p:cNvSpPr/>
          <p:nvPr/>
        </p:nvSpPr>
        <p:spPr>
          <a:xfrm>
            <a:off x="365760" y="4041648"/>
            <a:ext cx="8412480" cy="841248"/>
          </a:xfrm>
          <a:prstGeom prst="roundRect">
            <a:avLst>
              <a:gd name="adj" fmla="val 10870"/>
            </a:avLst>
          </a:prstGeom>
          <a:solidFill>
            <a:srgbClr val="1E3A5F"/>
          </a:solidFill>
          <a:ln w="12700">
            <a:solidFill>
              <a:srgbClr val="0077B6"/>
            </a:solidFill>
            <a:prstDash val="solid"/>
          </a:ln>
        </p:spPr>
      </p:sp>
      <p:sp>
        <p:nvSpPr>
          <p:cNvPr id="26" name="Shape 24"/>
          <p:cNvSpPr/>
          <p:nvPr/>
        </p:nvSpPr>
        <p:spPr>
          <a:xfrm>
            <a:off x="502920" y="4206240"/>
            <a:ext cx="502920" cy="502920"/>
          </a:xfrm>
          <a:prstGeom prst="ellipse">
            <a:avLst/>
          </a:prstGeom>
          <a:solidFill>
            <a:srgbClr val="00B4D8"/>
          </a:solidFill>
          <a:ln w="12700">
            <a:solidFill>
              <a:srgbClr val="00B4D8"/>
            </a:solidFill>
            <a:prstDash val="solid"/>
          </a:ln>
        </p:spPr>
      </p:sp>
      <p:sp>
        <p:nvSpPr>
          <p:cNvPr id="27" name="Text 25"/>
          <p:cNvSpPr/>
          <p:nvPr/>
        </p:nvSpPr>
        <p:spPr>
          <a:xfrm>
            <a:off x="502920" y="4206240"/>
            <a:ext cx="502920" cy="502920"/>
          </a:xfrm>
          <a:prstGeom prst="rect">
            <a:avLst/>
          </a:prstGeom>
          <a:noFill/>
          <a:ln/>
        </p:spPr>
        <p:txBody>
          <a:bodyPr wrap="square" lIns="0" tIns="0" rIns="0" bIns="0" rtlCol="0" anchor="ctr"/>
          <a:lstStyle/>
          <a:p>
            <a:pPr algn="ctr" indent="0" marL="0">
              <a:buNone/>
            </a:pPr>
            <a:r>
              <a:rPr lang="en-US" sz="1100" b="1" dirty="0">
                <a:solidFill>
                  <a:srgbClr val="0D1B2A"/>
                </a:solidFill>
              </a:rPr>
              <a:t>04</a:t>
            </a:r>
            <a:endParaRPr lang="en-US" sz="1100" dirty="0"/>
          </a:p>
        </p:txBody>
      </p:sp>
      <p:sp>
        <p:nvSpPr>
          <p:cNvPr id="28" name="Text 26"/>
          <p:cNvSpPr/>
          <p:nvPr/>
        </p:nvSpPr>
        <p:spPr>
          <a:xfrm>
            <a:off x="1143000" y="4114800"/>
            <a:ext cx="59436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Track Regulatory Changes</a:t>
            </a:r>
            <a:endParaRPr lang="en-US" sz="1300" dirty="0"/>
          </a:p>
        </p:txBody>
      </p:sp>
      <p:sp>
        <p:nvSpPr>
          <p:cNvPr id="29" name="Text 27"/>
          <p:cNvSpPr/>
          <p:nvPr/>
        </p:nvSpPr>
        <p:spPr>
          <a:xfrm>
            <a:off x="1143000" y="4407408"/>
            <a:ext cx="5943600" cy="41148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Follow SEBI, EU MiCA updates, and your government's crypto regulations — policy is shaping adoption timelines.</a:t>
            </a:r>
            <a:endParaRPr lang="en-US" sz="1050" dirty="0"/>
          </a:p>
        </p:txBody>
      </p:sp>
      <p:sp>
        <p:nvSpPr>
          <p:cNvPr id="30" name="Shape 28"/>
          <p:cNvSpPr/>
          <p:nvPr/>
        </p:nvSpPr>
        <p:spPr>
          <a:xfrm>
            <a:off x="7315200" y="4224528"/>
            <a:ext cx="1188720" cy="457200"/>
          </a:xfrm>
          <a:prstGeom prst="roundRect">
            <a:avLst>
              <a:gd name="adj" fmla="val 16000"/>
            </a:avLst>
          </a:prstGeom>
          <a:solidFill>
            <a:srgbClr val="0A2540"/>
          </a:solidFill>
          <a:ln w="12700">
            <a:solidFill>
              <a:srgbClr val="00B4D8"/>
            </a:solidFill>
            <a:prstDash val="solid"/>
          </a:ln>
        </p:spPr>
      </p:sp>
      <p:sp>
        <p:nvSpPr>
          <p:cNvPr id="31" name="Text 29"/>
          <p:cNvSpPr/>
          <p:nvPr/>
        </p:nvSpPr>
        <p:spPr>
          <a:xfrm>
            <a:off x="7315200" y="4224528"/>
            <a:ext cx="1188720" cy="457200"/>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Ongoing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0B4D8"/>
          </a:solidFill>
          <a:ln w="12700">
            <a:solidFill>
              <a:srgbClr val="00B4D8"/>
            </a:solidFill>
            <a:prstDash val="solid"/>
          </a:ln>
        </p:spPr>
      </p:sp>
      <p:sp>
        <p:nvSpPr>
          <p:cNvPr id="3" name="Text 1"/>
          <p:cNvSpPr/>
          <p:nvPr/>
        </p:nvSpPr>
        <p:spPr>
          <a:xfrm>
            <a:off x="457200" y="137160"/>
            <a:ext cx="8229600" cy="868680"/>
          </a:xfrm>
          <a:prstGeom prst="rect">
            <a:avLst/>
          </a:prstGeom>
          <a:noFill/>
          <a:ln/>
        </p:spPr>
        <p:txBody>
          <a:bodyPr wrap="square" lIns="0" tIns="0" rIns="0" bIns="0" rtlCol="0" anchor="ctr"/>
          <a:lstStyle/>
          <a:p>
            <a:pPr indent="0" marL="0">
              <a:buNone/>
            </a:pPr>
            <a:r>
              <a:rPr lang="en-US" sz="3200" b="1" dirty="0">
                <a:solidFill>
                  <a:srgbClr val="0D1B2A"/>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365760" y="132588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502920" y="1645920"/>
            <a:ext cx="411480" cy="411480"/>
          </a:xfrm>
          <a:prstGeom prst="ellipse">
            <a:avLst/>
          </a:prstGeom>
          <a:solidFill>
            <a:srgbClr val="00B4D8"/>
          </a:solidFill>
          <a:ln w="12700">
            <a:solidFill>
              <a:srgbClr val="00B4D8"/>
            </a:solidFill>
            <a:prstDash val="solid"/>
          </a:ln>
        </p:spPr>
      </p:sp>
      <p:sp>
        <p:nvSpPr>
          <p:cNvPr id="6" name="Text 4"/>
          <p:cNvSpPr/>
          <p:nvPr/>
        </p:nvSpPr>
        <p:spPr>
          <a:xfrm>
            <a:off x="502920" y="164592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1</a:t>
            </a:r>
            <a:endParaRPr lang="en-US" sz="1100" dirty="0"/>
          </a:p>
        </p:txBody>
      </p:sp>
      <p:sp>
        <p:nvSpPr>
          <p:cNvPr id="7" name="Text 5"/>
          <p:cNvSpPr/>
          <p:nvPr/>
        </p:nvSpPr>
        <p:spPr>
          <a:xfrm>
            <a:off x="1024128" y="143560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Web3 is the ownership layer of the internet — shifting control from platforms to users</a:t>
            </a:r>
            <a:endParaRPr lang="en-US" sz="1050" dirty="0"/>
          </a:p>
        </p:txBody>
      </p:sp>
      <p:sp>
        <p:nvSpPr>
          <p:cNvPr id="8" name="Shape 6"/>
          <p:cNvSpPr/>
          <p:nvPr/>
        </p:nvSpPr>
        <p:spPr>
          <a:xfrm>
            <a:off x="4754880" y="132588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9" name="Shape 7"/>
          <p:cNvSpPr/>
          <p:nvPr/>
        </p:nvSpPr>
        <p:spPr>
          <a:xfrm>
            <a:off x="4892040" y="1645920"/>
            <a:ext cx="411480" cy="411480"/>
          </a:xfrm>
          <a:prstGeom prst="ellipse">
            <a:avLst/>
          </a:prstGeom>
          <a:solidFill>
            <a:srgbClr val="00B4D8"/>
          </a:solidFill>
          <a:ln w="12700">
            <a:solidFill>
              <a:srgbClr val="00B4D8"/>
            </a:solidFill>
            <a:prstDash val="solid"/>
          </a:ln>
        </p:spPr>
      </p:sp>
      <p:sp>
        <p:nvSpPr>
          <p:cNvPr id="10" name="Text 8"/>
          <p:cNvSpPr/>
          <p:nvPr/>
        </p:nvSpPr>
        <p:spPr>
          <a:xfrm>
            <a:off x="4892040" y="164592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2</a:t>
            </a:r>
            <a:endParaRPr lang="en-US" sz="1100" dirty="0"/>
          </a:p>
        </p:txBody>
      </p:sp>
      <p:sp>
        <p:nvSpPr>
          <p:cNvPr id="11" name="Text 9"/>
          <p:cNvSpPr/>
          <p:nvPr/>
        </p:nvSpPr>
        <p:spPr>
          <a:xfrm>
            <a:off x="5413248" y="143560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Blockchain = a shared, tamper-proof ledger running on thousands of computers simultaneously</a:t>
            </a:r>
            <a:endParaRPr lang="en-US" sz="1050" dirty="0"/>
          </a:p>
        </p:txBody>
      </p:sp>
      <p:sp>
        <p:nvSpPr>
          <p:cNvPr id="12" name="Shape 10"/>
          <p:cNvSpPr/>
          <p:nvPr/>
        </p:nvSpPr>
        <p:spPr>
          <a:xfrm>
            <a:off x="365760" y="256032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13" name="Shape 11"/>
          <p:cNvSpPr/>
          <p:nvPr/>
        </p:nvSpPr>
        <p:spPr>
          <a:xfrm>
            <a:off x="502920" y="2880360"/>
            <a:ext cx="411480" cy="411480"/>
          </a:xfrm>
          <a:prstGeom prst="ellipse">
            <a:avLst/>
          </a:prstGeom>
          <a:solidFill>
            <a:srgbClr val="00B4D8"/>
          </a:solidFill>
          <a:ln w="12700">
            <a:solidFill>
              <a:srgbClr val="00B4D8"/>
            </a:solidFill>
            <a:prstDash val="solid"/>
          </a:ln>
        </p:spPr>
      </p:sp>
      <p:sp>
        <p:nvSpPr>
          <p:cNvPr id="14" name="Text 12"/>
          <p:cNvSpPr/>
          <p:nvPr/>
        </p:nvSpPr>
        <p:spPr>
          <a:xfrm>
            <a:off x="502920" y="288036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3</a:t>
            </a:r>
            <a:endParaRPr lang="en-US" sz="1100" dirty="0"/>
          </a:p>
        </p:txBody>
      </p:sp>
      <p:sp>
        <p:nvSpPr>
          <p:cNvPr id="15" name="Text 13"/>
          <p:cNvSpPr/>
          <p:nvPr/>
        </p:nvSpPr>
        <p:spPr>
          <a:xfrm>
            <a:off x="1024128" y="267004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Smart contracts automate trust — cutting out middlemen in finance, law, and commerce</a:t>
            </a:r>
            <a:endParaRPr lang="en-US" sz="1050" dirty="0"/>
          </a:p>
        </p:txBody>
      </p:sp>
      <p:sp>
        <p:nvSpPr>
          <p:cNvPr id="16" name="Shape 14"/>
          <p:cNvSpPr/>
          <p:nvPr/>
        </p:nvSpPr>
        <p:spPr>
          <a:xfrm>
            <a:off x="4754880" y="256032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17" name="Shape 15"/>
          <p:cNvSpPr/>
          <p:nvPr/>
        </p:nvSpPr>
        <p:spPr>
          <a:xfrm>
            <a:off x="4892040" y="2880360"/>
            <a:ext cx="411480" cy="411480"/>
          </a:xfrm>
          <a:prstGeom prst="ellipse">
            <a:avLst/>
          </a:prstGeom>
          <a:solidFill>
            <a:srgbClr val="00B4D8"/>
          </a:solidFill>
          <a:ln w="12700">
            <a:solidFill>
              <a:srgbClr val="00B4D8"/>
            </a:solidFill>
            <a:prstDash val="solid"/>
          </a:ln>
        </p:spPr>
      </p:sp>
      <p:sp>
        <p:nvSpPr>
          <p:cNvPr id="18" name="Text 16"/>
          <p:cNvSpPr/>
          <p:nvPr/>
        </p:nvSpPr>
        <p:spPr>
          <a:xfrm>
            <a:off x="4892040" y="288036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4</a:t>
            </a:r>
            <a:endParaRPr lang="en-US" sz="1100" dirty="0"/>
          </a:p>
        </p:txBody>
      </p:sp>
      <p:sp>
        <p:nvSpPr>
          <p:cNvPr id="19" name="Text 17"/>
          <p:cNvSpPr/>
          <p:nvPr/>
        </p:nvSpPr>
        <p:spPr>
          <a:xfrm>
            <a:off x="5413248" y="267004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Real enterprise adoption is already here (JP Morgan, Walmart, Visa, Maersk)</a:t>
            </a:r>
            <a:endParaRPr lang="en-US" sz="1050" dirty="0"/>
          </a:p>
        </p:txBody>
      </p:sp>
      <p:sp>
        <p:nvSpPr>
          <p:cNvPr id="20" name="Shape 18"/>
          <p:cNvSpPr/>
          <p:nvPr/>
        </p:nvSpPr>
        <p:spPr>
          <a:xfrm>
            <a:off x="365760" y="379476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21" name="Shape 19"/>
          <p:cNvSpPr/>
          <p:nvPr/>
        </p:nvSpPr>
        <p:spPr>
          <a:xfrm>
            <a:off x="502920" y="4114800"/>
            <a:ext cx="411480" cy="411480"/>
          </a:xfrm>
          <a:prstGeom prst="ellipse">
            <a:avLst/>
          </a:prstGeom>
          <a:solidFill>
            <a:srgbClr val="00B4D8"/>
          </a:solidFill>
          <a:ln w="12700">
            <a:solidFill>
              <a:srgbClr val="00B4D8"/>
            </a:solidFill>
            <a:prstDash val="solid"/>
          </a:ln>
        </p:spPr>
      </p:sp>
      <p:sp>
        <p:nvSpPr>
          <p:cNvPr id="22" name="Text 20"/>
          <p:cNvSpPr/>
          <p:nvPr/>
        </p:nvSpPr>
        <p:spPr>
          <a:xfrm>
            <a:off x="502920" y="411480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5</a:t>
            </a:r>
            <a:endParaRPr lang="en-US" sz="1100" dirty="0"/>
          </a:p>
        </p:txBody>
      </p:sp>
      <p:sp>
        <p:nvSpPr>
          <p:cNvPr id="23" name="Text 21"/>
          <p:cNvSpPr/>
          <p:nvPr/>
        </p:nvSpPr>
        <p:spPr>
          <a:xfrm>
            <a:off x="1024128" y="390448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Challenges exist, but scalability and UX are improving rapidly</a:t>
            </a:r>
            <a:endParaRPr lang="en-US" sz="1050" dirty="0"/>
          </a:p>
        </p:txBody>
      </p:sp>
      <p:sp>
        <p:nvSpPr>
          <p:cNvPr id="24" name="Shape 22"/>
          <p:cNvSpPr/>
          <p:nvPr/>
        </p:nvSpPr>
        <p:spPr>
          <a:xfrm>
            <a:off x="4754880" y="3794760"/>
            <a:ext cx="4206240" cy="1097280"/>
          </a:xfrm>
          <a:prstGeom prst="roundRect">
            <a:avLst>
              <a:gd name="adj" fmla="val 8333"/>
            </a:avLst>
          </a:prstGeom>
          <a:solidFill>
            <a:srgbClr val="1E3A5F"/>
          </a:solidFill>
          <a:ln w="12700">
            <a:solidFill>
              <a:srgbClr val="00B4D8"/>
            </a:solidFill>
            <a:prstDash val="solid"/>
          </a:ln>
          <a:effectLst>
            <a:outerShdw sx="100000" sy="100000" kx="0" ky="0" algn="bl" rotWithShape="0" blurRad="101600" dist="38100" dir="2700000">
              <a:srgbClr val="000000">
                <a:alpha val="18000"/>
              </a:srgbClr>
            </a:outerShdw>
          </a:effectLst>
        </p:spPr>
      </p:sp>
      <p:sp>
        <p:nvSpPr>
          <p:cNvPr id="25" name="Shape 23"/>
          <p:cNvSpPr/>
          <p:nvPr/>
        </p:nvSpPr>
        <p:spPr>
          <a:xfrm>
            <a:off x="4892040" y="4114800"/>
            <a:ext cx="411480" cy="411480"/>
          </a:xfrm>
          <a:prstGeom prst="ellipse">
            <a:avLst/>
          </a:prstGeom>
          <a:solidFill>
            <a:srgbClr val="00B4D8"/>
          </a:solidFill>
          <a:ln w="12700">
            <a:solidFill>
              <a:srgbClr val="00B4D8"/>
            </a:solidFill>
            <a:prstDash val="solid"/>
          </a:ln>
        </p:spPr>
      </p:sp>
      <p:sp>
        <p:nvSpPr>
          <p:cNvPr id="26" name="Text 24"/>
          <p:cNvSpPr/>
          <p:nvPr/>
        </p:nvSpPr>
        <p:spPr>
          <a:xfrm>
            <a:off x="4892040" y="4114800"/>
            <a:ext cx="411480" cy="411480"/>
          </a:xfrm>
          <a:prstGeom prst="rect">
            <a:avLst/>
          </a:prstGeom>
          <a:noFill/>
          <a:ln/>
        </p:spPr>
        <p:txBody>
          <a:bodyPr wrap="square" lIns="0" tIns="0" rIns="0" bIns="0" rtlCol="0" anchor="ctr"/>
          <a:lstStyle/>
          <a:p>
            <a:pPr algn="ctr" indent="0" marL="0">
              <a:buNone/>
            </a:pPr>
            <a:r>
              <a:rPr lang="en-US" sz="1100" b="1" dirty="0">
                <a:solidFill>
                  <a:srgbClr val="0D1B2A"/>
                </a:solidFill>
              </a:rPr>
              <a:t>6</a:t>
            </a:r>
            <a:endParaRPr lang="en-US" sz="1100" dirty="0"/>
          </a:p>
        </p:txBody>
      </p:sp>
      <p:sp>
        <p:nvSpPr>
          <p:cNvPr id="27" name="Text 25"/>
          <p:cNvSpPr/>
          <p:nvPr/>
        </p:nvSpPr>
        <p:spPr>
          <a:xfrm>
            <a:off x="5413248" y="3904488"/>
            <a:ext cx="3429000" cy="914400"/>
          </a:xfrm>
          <a:prstGeom prst="rect">
            <a:avLst/>
          </a:prstGeom>
          <a:noFill/>
          <a:ln/>
        </p:spPr>
        <p:txBody>
          <a:bodyPr wrap="square" lIns="0" tIns="0" rIns="0" bIns="0" rtlCol="0" anchor="ctr"/>
          <a:lstStyle/>
          <a:p>
            <a:pPr indent="0" marL="0">
              <a:buNone/>
            </a:pPr>
            <a:r>
              <a:rPr lang="en-US" sz="1050" dirty="0">
                <a:solidFill>
                  <a:srgbClr val="E8F4FD"/>
                </a:solidFill>
                <a:latin typeface="Calibri" pitchFamily="34" charset="0"/>
                <a:ea typeface="Calibri" pitchFamily="34" charset="-122"/>
                <a:cs typeface="Calibri" pitchFamily="34" charset="-120"/>
              </a:rPr>
              <a:t>Digital literacy in Web3 is becoming a professional differentiator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943600" y="-457200"/>
            <a:ext cx="4572000" cy="4572000"/>
          </a:xfrm>
          <a:prstGeom prst="ellipse">
            <a:avLst/>
          </a:prstGeom>
          <a:solidFill>
            <a:srgbClr val="00B4D8">
              <a:alpha val="12000"/>
            </a:srgbClr>
          </a:solidFill>
          <a:ln w="12700">
            <a:solidFill>
              <a:srgbClr val="00B4D8">
                <a:alpha val="12000"/>
              </a:srgbClr>
            </a:solidFill>
            <a:prstDash val="solid"/>
          </a:ln>
        </p:spPr>
      </p:sp>
      <p:sp>
        <p:nvSpPr>
          <p:cNvPr id="3" name="Shape 1"/>
          <p:cNvSpPr/>
          <p:nvPr/>
        </p:nvSpPr>
        <p:spPr>
          <a:xfrm>
            <a:off x="-914400" y="2743200"/>
            <a:ext cx="3657600" cy="3657600"/>
          </a:xfrm>
          <a:prstGeom prst="ellipse">
            <a:avLst/>
          </a:prstGeom>
          <a:solidFill>
            <a:srgbClr val="0077B6">
              <a:alpha val="12000"/>
            </a:srgbClr>
          </a:solidFill>
          <a:ln w="12700">
            <a:solidFill>
              <a:srgbClr val="0077B6">
                <a:alpha val="12000"/>
              </a:srgbClr>
            </a:solidFill>
            <a:prstDash val="solid"/>
          </a:ln>
        </p:spPr>
      </p:sp>
      <p:sp>
        <p:nvSpPr>
          <p:cNvPr id="4" name="Text 2"/>
          <p:cNvSpPr/>
          <p:nvPr/>
        </p:nvSpPr>
        <p:spPr>
          <a:xfrm>
            <a:off x="548640" y="640080"/>
            <a:ext cx="8229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548640" y="1691640"/>
            <a:ext cx="7315200" cy="457200"/>
          </a:xfrm>
          <a:prstGeom prst="rect">
            <a:avLst/>
          </a:prstGeom>
          <a:noFill/>
          <a:ln/>
        </p:spPr>
        <p:txBody>
          <a:bodyPr wrap="square" lIns="0" tIns="0" rIns="0" bIns="0" rtlCol="0" anchor="ctr"/>
          <a:lstStyle/>
          <a:p>
            <a:pPr indent="0" marL="0">
              <a:buNone/>
            </a:pPr>
            <a:r>
              <a:rPr lang="en-US" sz="2200" i="1" dirty="0">
                <a:solidFill>
                  <a:srgbClr val="00B4D8"/>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548640" y="2331720"/>
            <a:ext cx="3657600" cy="36576"/>
          </a:xfrm>
          <a:prstGeom prst="rect">
            <a:avLst/>
          </a:prstGeom>
          <a:solidFill>
            <a:srgbClr val="00B4D8"/>
          </a:solidFill>
          <a:ln w="12700">
            <a:solidFill>
              <a:srgbClr val="00B4D8"/>
            </a:solidFill>
            <a:prstDash val="solid"/>
          </a:ln>
        </p:spPr>
      </p:sp>
      <p:sp>
        <p:nvSpPr>
          <p:cNvPr id="7" name="Text 5"/>
          <p:cNvSpPr/>
          <p:nvPr/>
        </p:nvSpPr>
        <p:spPr>
          <a:xfrm>
            <a:off x="548640" y="2514600"/>
            <a:ext cx="5486400" cy="34747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Recommended Resources</a:t>
            </a:r>
            <a:endParaRPr lang="en-US" sz="1400" dirty="0"/>
          </a:p>
        </p:txBody>
      </p:sp>
      <p:sp>
        <p:nvSpPr>
          <p:cNvPr id="8" name="Text 6"/>
          <p:cNvSpPr/>
          <p:nvPr/>
        </p:nvSpPr>
        <p:spPr>
          <a:xfrm>
            <a:off x="548640" y="2926080"/>
            <a:ext cx="5303520" cy="1828800"/>
          </a:xfrm>
          <a:prstGeom prst="rect">
            <a:avLst/>
          </a:prstGeom>
          <a:noFill/>
          <a:ln/>
        </p:spPr>
        <p:txBody>
          <a:bodyPr wrap="square" lIns="0" tIns="0" rIns="0" bIns="0" rtlCol="0" anchor="ctr"/>
          <a:lstStyle/>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ethereum.org — Free beginner-to-advanced learning</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web3.foundation — Technical papers and research</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Coursera / edX — Blockchain specialization courses</a:t>
            </a:r>
            <a:endParaRPr lang="en-US" sz="1200" dirty="0"/>
          </a:p>
          <a:p>
            <a:pPr marL="342900" indent="-342900">
              <a:buSzPct val="100000"/>
              <a:buChar char="•"/>
            </a:pPr>
            <a:r>
              <a:rPr lang="en-US" sz="1200" dirty="0">
                <a:solidFill>
                  <a:srgbClr val="E8F4FD"/>
                </a:solidFill>
                <a:latin typeface="Calibri" pitchFamily="34" charset="0"/>
                <a:ea typeface="Calibri" pitchFamily="34" charset="-122"/>
                <a:cs typeface="Calibri" pitchFamily="34" charset="-120"/>
              </a:rPr>
              <a:t>CoinDesk / The Block — Industry news and analysis</a:t>
            </a:r>
            <a:endParaRPr lang="en-US" sz="1200" dirty="0"/>
          </a:p>
          <a:p>
            <a:pPr indent="0" marL="0">
              <a:buNone/>
            </a:pPr>
            <a:endParaRPr lang="en-US" sz="1200" dirty="0"/>
          </a:p>
        </p:txBody>
      </p:sp>
      <p:sp>
        <p:nvSpPr>
          <p:cNvPr id="9" name="Shape 7"/>
          <p:cNvSpPr/>
          <p:nvPr/>
        </p:nvSpPr>
        <p:spPr>
          <a:xfrm>
            <a:off x="5943600" y="2468880"/>
            <a:ext cx="2926080" cy="2423160"/>
          </a:xfrm>
          <a:prstGeom prst="roundRect">
            <a:avLst>
              <a:gd name="adj" fmla="val 4528"/>
            </a:avLst>
          </a:prstGeom>
          <a:solidFill>
            <a:srgbClr val="1E3A5F"/>
          </a:solidFill>
          <a:ln w="25400">
            <a:solidFill>
              <a:srgbClr val="00B4D8"/>
            </a:solidFill>
            <a:prstDash val="solid"/>
          </a:ln>
        </p:spPr>
      </p:sp>
      <p:sp>
        <p:nvSpPr>
          <p:cNvPr id="10" name="Text 8"/>
          <p:cNvSpPr/>
          <p:nvPr/>
        </p:nvSpPr>
        <p:spPr>
          <a:xfrm>
            <a:off x="6080760" y="2606040"/>
            <a:ext cx="2651760" cy="347472"/>
          </a:xfrm>
          <a:prstGeom prst="rect">
            <a:avLst/>
          </a:prstGeom>
          <a:noFill/>
          <a:ln/>
        </p:spPr>
        <p:txBody>
          <a:bodyPr wrap="square" lIns="0" tIns="0" rIns="0" bIns="0"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 Let's Connect</a:t>
            </a:r>
            <a:endParaRPr lang="en-US" sz="1300" dirty="0"/>
          </a:p>
        </p:txBody>
      </p:sp>
      <p:sp>
        <p:nvSpPr>
          <p:cNvPr id="11" name="Text 9"/>
          <p:cNvSpPr/>
          <p:nvPr/>
        </p:nvSpPr>
        <p:spPr>
          <a:xfrm>
            <a:off x="6080760" y="3017520"/>
            <a:ext cx="2651760" cy="1828800"/>
          </a:xfrm>
          <a:prstGeom prst="rect">
            <a:avLst/>
          </a:prstGeom>
          <a:noFill/>
          <a:ln/>
        </p:spPr>
        <p:txBody>
          <a:bodyPr wrap="square" lIns="0" tIns="0" rIns="0" bIns="0" rtlCol="0" anchor="t"/>
          <a:lstStyle/>
          <a:p>
            <a:pPr algn="ctr" indent="0" marL="0">
              <a:buNone/>
            </a:pPr>
            <a:r>
              <a:rPr lang="en-US" sz="1100" dirty="0">
                <a:solidFill>
                  <a:srgbClr val="E8F4FD"/>
                </a:solidFill>
                <a:latin typeface="Calibri" pitchFamily="34" charset="0"/>
                <a:ea typeface="Calibri" pitchFamily="34" charset="-122"/>
                <a:cs typeface="Calibri" pitchFamily="34" charset="-120"/>
              </a:rPr>
              <a:t>Share your thoughts,</a:t>
            </a:r>
            <a:endParaRPr lang="en-US" sz="1100" dirty="0"/>
          </a:p>
          <a:p>
            <a:pPr algn="ctr" indent="0" marL="0">
              <a:buNone/>
            </a:pPr>
            <a:r>
              <a:rPr lang="en-US" sz="1100" dirty="0">
                <a:solidFill>
                  <a:srgbClr val="E8F4FD"/>
                </a:solidFill>
                <a:latin typeface="Calibri" pitchFamily="34" charset="0"/>
                <a:ea typeface="Calibri" pitchFamily="34" charset="-122"/>
                <a:cs typeface="Calibri" pitchFamily="34" charset="-120"/>
              </a:rPr>
              <a:t>ask follow-up questions,</a:t>
            </a:r>
            <a:endParaRPr lang="en-US" sz="1100" dirty="0"/>
          </a:p>
          <a:p>
            <a:pPr algn="ctr" indent="0" marL="0">
              <a:buNone/>
            </a:pPr>
            <a:r>
              <a:rPr lang="en-US" sz="1100" dirty="0">
                <a:solidFill>
                  <a:srgbClr val="E8F4FD"/>
                </a:solidFill>
                <a:latin typeface="Calibri" pitchFamily="34" charset="0"/>
                <a:ea typeface="Calibri" pitchFamily="34" charset="-122"/>
                <a:cs typeface="Calibri" pitchFamily="34" charset="-120"/>
              </a:rPr>
              <a:t>or discuss how Web3</a:t>
            </a:r>
            <a:endParaRPr lang="en-US" sz="1100" dirty="0"/>
          </a:p>
          <a:p>
            <a:pPr algn="ctr" indent="0" marL="0">
              <a:buNone/>
            </a:pPr>
            <a:r>
              <a:rPr lang="en-US" sz="1100" dirty="0">
                <a:solidFill>
                  <a:srgbClr val="E8F4FD"/>
                </a:solidFill>
                <a:latin typeface="Calibri" pitchFamily="34" charset="0"/>
                <a:ea typeface="Calibri" pitchFamily="34" charset="-122"/>
                <a:cs typeface="Calibri" pitchFamily="34" charset="-120"/>
              </a:rPr>
              <a:t>may affect your role.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Web3 &amp; Blockchain: The Future of the Internet</dc:title>
  <dc:subject>PptxGenJS Presentation</dc:subject>
  <dc:creator>Tech Seminar</dc:creator>
  <cp:lastModifiedBy>Tech Seminar</cp:lastModifiedBy>
  <cp:revision>1</cp:revision>
  <dcterms:created xsi:type="dcterms:W3CDTF">2026-06-27T13:46:00Z</dcterms:created>
  <dcterms:modified xsi:type="dcterms:W3CDTF">2026-06-27T13:46:00Z</dcterms:modified>
</cp:coreProperties>
</file>